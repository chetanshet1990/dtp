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7" r:id="rId4"/>
    <p:sldId id="262" r:id="rId5"/>
    <p:sldId id="279" r:id="rId6"/>
    <p:sldId id="275" r:id="rId7"/>
    <p:sldId id="276" r:id="rId8"/>
    <p:sldId id="278" r:id="rId9"/>
    <p:sldId id="274" r:id="rId10"/>
    <p:sldId id="264" r:id="rId11"/>
    <p:sldId id="265" r:id="rId12"/>
    <p:sldId id="266" r:id="rId13"/>
    <p:sldId id="268" r:id="rId14"/>
    <p:sldId id="270"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31"/>
  </p:normalViewPr>
  <p:slideViewPr>
    <p:cSldViewPr snapToGrid="0" snapToObjects="1">
      <p:cViewPr>
        <p:scale>
          <a:sx n="103" d="100"/>
          <a:sy n="103" d="100"/>
        </p:scale>
        <p:origin x="920"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D62B7-0B5F-AF41-8163-BB88D62C7A70}" type="datetimeFigureOut">
              <a:rPr lang="en-US" smtClean="0"/>
              <a:t>6/13/26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EAFC23-4768-8A48-B48F-E8A187D96E4E}" type="slidenum">
              <a:rPr lang="en-US" smtClean="0"/>
              <a:t>‹#›</a:t>
            </a:fld>
            <a:endParaRPr lang="en-US"/>
          </a:p>
        </p:txBody>
      </p:sp>
    </p:spTree>
    <p:extLst>
      <p:ext uri="{BB962C8B-B14F-4D97-AF65-F5344CB8AC3E}">
        <p14:creationId xmlns:p14="http://schemas.microsoft.com/office/powerpoint/2010/main" val="890367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EAFC23-4768-8A48-B48F-E8A187D96E4E}" type="slidenum">
              <a:rPr lang="en-US" smtClean="0"/>
              <a:t>1</a:t>
            </a:fld>
            <a:endParaRPr lang="en-US"/>
          </a:p>
        </p:txBody>
      </p:sp>
    </p:spTree>
    <p:extLst>
      <p:ext uri="{BB962C8B-B14F-4D97-AF65-F5344CB8AC3E}">
        <p14:creationId xmlns:p14="http://schemas.microsoft.com/office/powerpoint/2010/main" val="3682455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238"/>
          </a:solidFill>
          <a:ln w="8890">
            <a:solidFill>
              <a:srgbClr val="14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66928"/>
            <a:ext cx="9875520" cy="320040"/>
          </a:xfrm>
          <a:prstGeom prst="rect">
            <a:avLst/>
          </a:prstGeom>
          <a:noFill/>
        </p:spPr>
        <p:txBody>
          <a:bodyPr wrap="square">
            <a:spAutoFit/>
          </a:bodyPr>
          <a:lstStyle/>
          <a:p>
            <a:pPr>
              <a:defRPr sz="1400" b="0">
                <a:solidFill>
                  <a:srgbClr val="BED2E6"/>
                </a:solidFill>
                <a:latin typeface="Aptos"/>
              </a:defRPr>
            </a:pPr>
            <a:r>
              <a:rPr dirty="0"/>
              <a:t>Review 2 Presentation</a:t>
            </a:r>
          </a:p>
        </p:txBody>
      </p:sp>
      <p:sp>
        <p:nvSpPr>
          <p:cNvPr id="4" name="TextBox 3"/>
          <p:cNvSpPr txBox="1"/>
          <p:nvPr/>
        </p:nvSpPr>
        <p:spPr>
          <a:xfrm>
            <a:off x="685800" y="1024128"/>
            <a:ext cx="9784080" cy="1005840"/>
          </a:xfrm>
          <a:prstGeom prst="rect">
            <a:avLst/>
          </a:prstGeom>
          <a:noFill/>
        </p:spPr>
        <p:txBody>
          <a:bodyPr wrap="square">
            <a:spAutoFit/>
          </a:bodyPr>
          <a:lstStyle/>
          <a:p>
            <a:pPr>
              <a:defRPr sz="3400" b="1">
                <a:solidFill>
                  <a:srgbClr val="FFFFFF"/>
                </a:solidFill>
                <a:latin typeface="Aptos"/>
              </a:defRPr>
            </a:pPr>
            <a:r>
              <a:t>XAI-Driven Cost Digital Twin for Procurement Intelligence</a:t>
            </a:r>
          </a:p>
        </p:txBody>
      </p:sp>
      <p:sp>
        <p:nvSpPr>
          <p:cNvPr id="5" name="TextBox 4"/>
          <p:cNvSpPr txBox="1"/>
          <p:nvPr/>
        </p:nvSpPr>
        <p:spPr>
          <a:xfrm>
            <a:off x="713232" y="2066543"/>
            <a:ext cx="9692640" cy="353943"/>
          </a:xfrm>
          <a:prstGeom prst="rect">
            <a:avLst/>
          </a:prstGeom>
          <a:noFill/>
        </p:spPr>
        <p:txBody>
          <a:bodyPr wrap="square">
            <a:spAutoFit/>
          </a:bodyPr>
          <a:lstStyle/>
          <a:p>
            <a:pPr>
              <a:defRPr sz="1700" b="0">
                <a:solidFill>
                  <a:srgbClr val="E1EBF5"/>
                </a:solidFill>
                <a:latin typeface="Aptos"/>
              </a:defRPr>
            </a:pPr>
            <a:r>
              <a:rPr dirty="0"/>
              <a:t>Objective: validate the pipeline, should-cost template endpoint, and evaluation direction</a:t>
            </a:r>
          </a:p>
        </p:txBody>
      </p:sp>
      <p:sp>
        <p:nvSpPr>
          <p:cNvPr id="6" name="Rounded Rectangle 5"/>
          <p:cNvSpPr/>
          <p:nvPr/>
        </p:nvSpPr>
        <p:spPr>
          <a:xfrm>
            <a:off x="713232" y="3017520"/>
            <a:ext cx="2331720" cy="960120"/>
          </a:xfrm>
          <a:prstGeom prst="roundRect">
            <a:avLst/>
          </a:prstGeom>
          <a:solidFill>
            <a:srgbClr val="1F314E"/>
          </a:solidFill>
          <a:ln w="8890">
            <a:solidFill>
              <a:srgbClr val="485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3182112"/>
            <a:ext cx="2011680" cy="292608"/>
          </a:xfrm>
          <a:prstGeom prst="rect">
            <a:avLst/>
          </a:prstGeom>
          <a:noFill/>
        </p:spPr>
        <p:txBody>
          <a:bodyPr wrap="square">
            <a:spAutoFit/>
          </a:bodyPr>
          <a:lstStyle/>
          <a:p>
            <a:pPr>
              <a:defRPr sz="2200" b="1">
                <a:solidFill>
                  <a:srgbClr val="107C79"/>
                </a:solidFill>
                <a:latin typeface="Aptos"/>
              </a:defRPr>
            </a:pPr>
            <a:r>
              <a:t>30</a:t>
            </a:r>
          </a:p>
        </p:txBody>
      </p:sp>
      <p:sp>
        <p:nvSpPr>
          <p:cNvPr id="8" name="TextBox 7"/>
          <p:cNvSpPr txBox="1"/>
          <p:nvPr/>
        </p:nvSpPr>
        <p:spPr>
          <a:xfrm>
            <a:off x="877824" y="3547872"/>
            <a:ext cx="2011680" cy="228600"/>
          </a:xfrm>
          <a:prstGeom prst="rect">
            <a:avLst/>
          </a:prstGeom>
          <a:noFill/>
        </p:spPr>
        <p:txBody>
          <a:bodyPr wrap="square">
            <a:spAutoFit/>
          </a:bodyPr>
          <a:lstStyle/>
          <a:p>
            <a:pPr>
              <a:defRPr sz="1050" b="0">
                <a:solidFill>
                  <a:srgbClr val="DCE6F0"/>
                </a:solidFill>
                <a:latin typeface="Aptos"/>
              </a:defRPr>
            </a:pPr>
            <a:r>
              <a:t>demo parts</a:t>
            </a:r>
          </a:p>
        </p:txBody>
      </p:sp>
      <p:sp>
        <p:nvSpPr>
          <p:cNvPr id="9" name="Rounded Rectangle 8"/>
          <p:cNvSpPr/>
          <p:nvPr/>
        </p:nvSpPr>
        <p:spPr>
          <a:xfrm>
            <a:off x="3456432" y="3017520"/>
            <a:ext cx="2331720" cy="960120"/>
          </a:xfrm>
          <a:prstGeom prst="roundRect">
            <a:avLst/>
          </a:prstGeom>
          <a:solidFill>
            <a:srgbClr val="1F314E"/>
          </a:solidFill>
          <a:ln w="8890">
            <a:solidFill>
              <a:srgbClr val="485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21024" y="3182112"/>
            <a:ext cx="2011680" cy="292608"/>
          </a:xfrm>
          <a:prstGeom prst="rect">
            <a:avLst/>
          </a:prstGeom>
          <a:noFill/>
        </p:spPr>
        <p:txBody>
          <a:bodyPr wrap="square">
            <a:spAutoFit/>
          </a:bodyPr>
          <a:lstStyle/>
          <a:p>
            <a:pPr>
              <a:defRPr sz="2200" b="1">
                <a:solidFill>
                  <a:srgbClr val="276094"/>
                </a:solidFill>
                <a:latin typeface="Aptos"/>
              </a:defRPr>
            </a:pPr>
            <a:r>
              <a:t>90</a:t>
            </a:r>
          </a:p>
        </p:txBody>
      </p:sp>
      <p:sp>
        <p:nvSpPr>
          <p:cNvPr id="11" name="TextBox 10"/>
          <p:cNvSpPr txBox="1"/>
          <p:nvPr/>
        </p:nvSpPr>
        <p:spPr>
          <a:xfrm>
            <a:off x="3621024" y="3547872"/>
            <a:ext cx="2011680" cy="228600"/>
          </a:xfrm>
          <a:prstGeom prst="rect">
            <a:avLst/>
          </a:prstGeom>
          <a:noFill/>
        </p:spPr>
        <p:txBody>
          <a:bodyPr wrap="square">
            <a:spAutoFit/>
          </a:bodyPr>
          <a:lstStyle/>
          <a:p>
            <a:pPr>
              <a:defRPr sz="1050" b="0">
                <a:solidFill>
                  <a:srgbClr val="DCE6F0"/>
                </a:solidFill>
                <a:latin typeface="Aptos"/>
              </a:defRPr>
            </a:pPr>
            <a:r>
              <a:t>clean ERP rows</a:t>
            </a:r>
          </a:p>
        </p:txBody>
      </p:sp>
      <p:sp>
        <p:nvSpPr>
          <p:cNvPr id="15" name="TextBox 14"/>
          <p:cNvSpPr txBox="1"/>
          <p:nvPr/>
        </p:nvSpPr>
        <p:spPr>
          <a:xfrm>
            <a:off x="713232" y="4800600"/>
            <a:ext cx="10241280" cy="685800"/>
          </a:xfrm>
          <a:prstGeom prst="rect">
            <a:avLst/>
          </a:prstGeom>
          <a:noFill/>
        </p:spPr>
        <p:txBody>
          <a:bodyPr wrap="square">
            <a:spAutoFit/>
          </a:bodyPr>
          <a:lstStyle/>
          <a:p>
            <a:pPr>
              <a:defRPr sz="1800" b="1">
                <a:solidFill>
                  <a:srgbClr val="FFFFFF"/>
                </a:solidFill>
                <a:latin typeface="Aptos"/>
              </a:defRPr>
            </a:pPr>
            <a:r>
              <a:rPr dirty="0"/>
              <a:t>Core claim: ERP price says what was paid; the Cost Digital Twin and ML fair-price model estimate what should be paid and explain why.</a:t>
            </a:r>
          </a:p>
        </p:txBody>
      </p:sp>
      <p:sp>
        <p:nvSpPr>
          <p:cNvPr id="16" name="TextBox 15"/>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17" name="TextBox 16"/>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01</a:t>
            </a:r>
          </a:p>
        </p:txBody>
      </p:sp>
    </p:spTree>
  </p:cSld>
  <p:clrMapOvr>
    <a:masterClrMapping/>
  </p:clrMapOvr>
  <mc:AlternateContent xmlns:mc="http://schemas.openxmlformats.org/markup-compatibility/2006">
    <mc:Choice xmlns:p14="http://schemas.microsoft.com/office/powerpoint/2010/main" Requires="p14">
      <p:transition spd="slow" p14:dur="2000" advTm="45656"/>
    </mc:Choice>
    <mc:Fallback>
      <p:transition spd="slow" advTm="4565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rPr dirty="0"/>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Problem Statement</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02</a:t>
            </a:r>
          </a:p>
        </p:txBody>
      </p:sp>
      <p:sp>
        <p:nvSpPr>
          <p:cNvPr id="7" name="Rounded Rectangle 6"/>
          <p:cNvSpPr/>
          <p:nvPr/>
        </p:nvSpPr>
        <p:spPr>
          <a:xfrm>
            <a:off x="685800" y="1417320"/>
            <a:ext cx="5257800" cy="5010912"/>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1854307"/>
            <a:ext cx="4928616" cy="256032"/>
          </a:xfrm>
          <a:prstGeom prst="rect">
            <a:avLst/>
          </a:prstGeom>
          <a:noFill/>
        </p:spPr>
        <p:txBody>
          <a:bodyPr wrap="square">
            <a:spAutoFit/>
          </a:bodyPr>
          <a:lstStyle/>
          <a:p>
            <a:pPr>
              <a:defRPr sz="1200" b="1">
                <a:solidFill>
                  <a:srgbClr val="276094"/>
                </a:solidFill>
                <a:latin typeface="Aptos"/>
              </a:defRPr>
            </a:pPr>
            <a:r>
              <a:rPr dirty="0"/>
              <a:t>Current procurement pain</a:t>
            </a:r>
          </a:p>
        </p:txBody>
      </p:sp>
      <p:sp>
        <p:nvSpPr>
          <p:cNvPr id="9" name="TextBox 8"/>
          <p:cNvSpPr txBox="1"/>
          <p:nvPr/>
        </p:nvSpPr>
        <p:spPr>
          <a:xfrm>
            <a:off x="850392" y="2117558"/>
            <a:ext cx="4928616" cy="1815882"/>
          </a:xfrm>
          <a:prstGeom prst="rect">
            <a:avLst/>
          </a:prstGeom>
          <a:noFill/>
        </p:spPr>
        <p:txBody>
          <a:bodyPr wrap="square">
            <a:spAutoFit/>
          </a:bodyPr>
          <a:lstStyle/>
          <a:p>
            <a:pPr>
              <a:defRPr sz="1400" b="0">
                <a:solidFill>
                  <a:srgbClr val="232A33"/>
                </a:solidFill>
                <a:latin typeface="Aptos"/>
              </a:defRPr>
            </a:pPr>
            <a:r>
              <a:rPr dirty="0"/>
              <a:t>• ERP data stores historical purchase price, but not whether the price is fair.</a:t>
            </a:r>
            <a:endParaRPr lang="en-US" dirty="0"/>
          </a:p>
          <a:p>
            <a:pPr>
              <a:defRPr sz="1400" b="0">
                <a:solidFill>
                  <a:srgbClr val="232A33"/>
                </a:solidFill>
                <a:latin typeface="Aptos"/>
              </a:defRPr>
            </a:pPr>
            <a:br>
              <a:rPr dirty="0"/>
            </a:br>
            <a:r>
              <a:rPr dirty="0"/>
              <a:t>• Commodity</a:t>
            </a:r>
            <a:r>
              <a:rPr lang="en-US" dirty="0"/>
              <a:t> rate</a:t>
            </a:r>
            <a:r>
              <a:rPr dirty="0"/>
              <a:t> movement, FX changes, supplier behavior, and missing engineering context distort direct comparison.</a:t>
            </a:r>
            <a:endParaRPr lang="en-US" dirty="0"/>
          </a:p>
          <a:p>
            <a:pPr>
              <a:defRPr sz="1400" b="0">
                <a:solidFill>
                  <a:srgbClr val="232A33"/>
                </a:solidFill>
                <a:latin typeface="Aptos"/>
              </a:defRPr>
            </a:pPr>
            <a:br>
              <a:rPr dirty="0"/>
            </a:br>
            <a:r>
              <a:rPr dirty="0"/>
              <a:t>• Negotiation teams need traceable evidence, not only a predicted number.</a:t>
            </a:r>
          </a:p>
        </p:txBody>
      </p:sp>
      <p:sp>
        <p:nvSpPr>
          <p:cNvPr id="14" name="Rounded Rectangle 13">
            <a:extLst>
              <a:ext uri="{FF2B5EF4-FFF2-40B4-BE49-F238E27FC236}">
                <a16:creationId xmlns:a16="http://schemas.microsoft.com/office/drawing/2014/main" id="{B667E286-CDCA-C603-8B36-C53C7A5AE4E3}"/>
              </a:ext>
            </a:extLst>
          </p:cNvPr>
          <p:cNvSpPr/>
          <p:nvPr/>
        </p:nvSpPr>
        <p:spPr>
          <a:xfrm>
            <a:off x="6143340" y="1417320"/>
            <a:ext cx="5257800" cy="502920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D6B5046A-3074-5E93-DED3-A0CA04EC09E9}"/>
              </a:ext>
            </a:extLst>
          </p:cNvPr>
          <p:cNvSpPr txBox="1"/>
          <p:nvPr/>
        </p:nvSpPr>
        <p:spPr>
          <a:xfrm>
            <a:off x="6307932" y="1921683"/>
            <a:ext cx="4928616" cy="256032"/>
          </a:xfrm>
          <a:prstGeom prst="rect">
            <a:avLst/>
          </a:prstGeom>
          <a:noFill/>
        </p:spPr>
        <p:txBody>
          <a:bodyPr wrap="square">
            <a:spAutoFit/>
          </a:bodyPr>
          <a:lstStyle/>
          <a:p>
            <a:pPr>
              <a:defRPr sz="1200" b="1">
                <a:solidFill>
                  <a:srgbClr val="276094"/>
                </a:solidFill>
                <a:latin typeface="Aptos"/>
              </a:defRPr>
            </a:pPr>
            <a:r>
              <a:t>Aim</a:t>
            </a:r>
          </a:p>
        </p:txBody>
      </p:sp>
      <p:sp>
        <p:nvSpPr>
          <p:cNvPr id="16" name="TextBox 15">
            <a:extLst>
              <a:ext uri="{FF2B5EF4-FFF2-40B4-BE49-F238E27FC236}">
                <a16:creationId xmlns:a16="http://schemas.microsoft.com/office/drawing/2014/main" id="{F5A6AE66-BFB2-E720-D12C-211113964B41}"/>
              </a:ext>
            </a:extLst>
          </p:cNvPr>
          <p:cNvSpPr txBox="1"/>
          <p:nvPr/>
        </p:nvSpPr>
        <p:spPr>
          <a:xfrm>
            <a:off x="6307932" y="2233061"/>
            <a:ext cx="4928616" cy="1384995"/>
          </a:xfrm>
          <a:prstGeom prst="rect">
            <a:avLst/>
          </a:prstGeom>
          <a:noFill/>
        </p:spPr>
        <p:txBody>
          <a:bodyPr wrap="square">
            <a:spAutoFit/>
          </a:bodyPr>
          <a:lstStyle/>
          <a:p>
            <a:pPr>
              <a:defRPr sz="1400" b="0">
                <a:solidFill>
                  <a:srgbClr val="232A33"/>
                </a:solidFill>
                <a:latin typeface="Aptos"/>
              </a:defRPr>
            </a:pPr>
            <a:r>
              <a:rPr dirty="0"/>
              <a:t>• Build an explainable AI-driven Cost Digital Twin that converts procurement and technical inputs into fair-price intelligence.</a:t>
            </a:r>
            <a:endParaRPr lang="en-US" dirty="0"/>
          </a:p>
          <a:p>
            <a:pPr>
              <a:defRPr sz="1400" b="0">
                <a:solidFill>
                  <a:srgbClr val="232A33"/>
                </a:solidFill>
                <a:latin typeface="Aptos"/>
              </a:defRPr>
            </a:pPr>
            <a:br>
              <a:rPr dirty="0"/>
            </a:br>
            <a:r>
              <a:rPr dirty="0"/>
              <a:t>• Use engineering should-cost as the anchor and ML fair price as the decision-support layer.</a:t>
            </a:r>
          </a:p>
        </p:txBody>
      </p:sp>
      <p:pic>
        <p:nvPicPr>
          <p:cNvPr id="19" name="Picture 18">
            <a:extLst>
              <a:ext uri="{FF2B5EF4-FFF2-40B4-BE49-F238E27FC236}">
                <a16:creationId xmlns:a16="http://schemas.microsoft.com/office/drawing/2014/main" id="{C74CC24E-A79A-ADF6-CA1C-603A036460B1}"/>
              </a:ext>
            </a:extLst>
          </p:cNvPr>
          <p:cNvPicPr>
            <a:picLocks noChangeAspect="1"/>
          </p:cNvPicPr>
          <p:nvPr/>
        </p:nvPicPr>
        <p:blipFill>
          <a:blip r:embed="rId2"/>
          <a:stretch>
            <a:fillRect/>
          </a:stretch>
        </p:blipFill>
        <p:spPr>
          <a:xfrm>
            <a:off x="1326297" y="3976347"/>
            <a:ext cx="3976806" cy="2267080"/>
          </a:xfrm>
          <a:prstGeom prst="rect">
            <a:avLst/>
          </a:prstGeom>
        </p:spPr>
      </p:pic>
      <p:pic>
        <p:nvPicPr>
          <p:cNvPr id="20" name="Picture 19">
            <a:extLst>
              <a:ext uri="{FF2B5EF4-FFF2-40B4-BE49-F238E27FC236}">
                <a16:creationId xmlns:a16="http://schemas.microsoft.com/office/drawing/2014/main" id="{EFEC7C3A-3E6A-0914-3567-FBAA094750B8}"/>
              </a:ext>
            </a:extLst>
          </p:cNvPr>
          <p:cNvPicPr>
            <a:picLocks noChangeAspect="1"/>
          </p:cNvPicPr>
          <p:nvPr/>
        </p:nvPicPr>
        <p:blipFill>
          <a:blip r:embed="rId3"/>
          <a:stretch>
            <a:fillRect/>
          </a:stretch>
        </p:blipFill>
        <p:spPr>
          <a:xfrm>
            <a:off x="6596276" y="3933440"/>
            <a:ext cx="4269427" cy="212560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8993"/>
    </mc:Choice>
    <mc:Fallback>
      <p:transition spd="slow" advTm="11899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1FD97-9985-ADA4-5F6D-4058A3EAF3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E67C4F-3725-B354-71E6-6C6EC26F2616}"/>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F2836BBA-2B7C-1E0A-979A-C92CDE1F63A5}"/>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0C702AC1-DCB0-3227-DC7B-AD1305C48AB2}"/>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58673C0-2C81-09AE-E81A-2C03EB41ECD9}"/>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BCB3806A-D098-96E2-F75B-FB7DE8099B86}"/>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B66E9E3C-23B2-0FB0-5FDA-3C66CA2C39DE}"/>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0900AD35-624D-176D-D890-338A6A6A6F00}"/>
              </a:ext>
            </a:extLst>
          </p:cNvPr>
          <p:cNvSpPr txBox="1"/>
          <p:nvPr/>
        </p:nvSpPr>
        <p:spPr>
          <a:xfrm>
            <a:off x="780205" y="2103545"/>
            <a:ext cx="5595882" cy="3539430"/>
          </a:xfrm>
          <a:prstGeom prst="rect">
            <a:avLst/>
          </a:prstGeom>
          <a:noFill/>
        </p:spPr>
        <p:txBody>
          <a:bodyPr wrap="square">
            <a:spAutoFit/>
          </a:bodyPr>
          <a:lstStyle/>
          <a:p>
            <a:r>
              <a:rPr lang="en-US" sz="1400" dirty="0">
                <a:solidFill>
                  <a:srgbClr val="232A33"/>
                </a:solidFill>
                <a:latin typeface="Aptos"/>
              </a:rPr>
              <a:t>This paper presents a top-down, data-driven component cost estimation approach using machine learning and Shapley-value reasoning. Instead of relying only on physical teardown or bottom-up component costing, the paper estimates how vehicle features contribute to total vehicle price. It uses explainability to allocate price contribution across components and features.</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Relevance to project: This supports SHAP-style cost-driver explanation. It is relevant because your system also needs to explain why a predicted fair price is higher or lower.</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Review line: This paper supports the use of Shapley/SHAP explanations to convert black-box price prediction into understandable cost-driver contribution.</a:t>
            </a:r>
          </a:p>
        </p:txBody>
      </p:sp>
      <p:sp>
        <p:nvSpPr>
          <p:cNvPr id="18" name="TextBox 17">
            <a:extLst>
              <a:ext uri="{FF2B5EF4-FFF2-40B4-BE49-F238E27FC236}">
                <a16:creationId xmlns:a16="http://schemas.microsoft.com/office/drawing/2014/main" id="{EAABBDFD-956C-8199-BE57-11BD07EAFBA0}"/>
              </a:ext>
            </a:extLst>
          </p:cNvPr>
          <p:cNvSpPr txBox="1"/>
          <p:nvPr/>
        </p:nvSpPr>
        <p:spPr>
          <a:xfrm>
            <a:off x="6376087" y="1710682"/>
            <a:ext cx="5130113" cy="3970318"/>
          </a:xfrm>
          <a:prstGeom prst="rect">
            <a:avLst/>
          </a:prstGeom>
          <a:noFill/>
        </p:spPr>
        <p:txBody>
          <a:bodyPr wrap="square">
            <a:spAutoFit/>
          </a:bodyPr>
          <a:lstStyle/>
          <a:p>
            <a:r>
              <a:rPr lang="en-US" sz="1400" dirty="0">
                <a:solidFill>
                  <a:srgbClr val="232A33"/>
                </a:solidFill>
                <a:latin typeface="Aptos"/>
              </a:rPr>
              <a:t>Pipeline used:</a:t>
            </a:r>
          </a:p>
          <a:p>
            <a:endParaRPr lang="en-US" sz="1400" dirty="0">
              <a:solidFill>
                <a:srgbClr val="232A33"/>
              </a:solidFill>
              <a:latin typeface="Aptos"/>
            </a:endParaRPr>
          </a:p>
          <a:p>
            <a:r>
              <a:rPr lang="en-US" sz="1400" dirty="0">
                <a:solidFill>
                  <a:srgbClr val="232A33"/>
                </a:solidFill>
                <a:latin typeface="Aptos"/>
              </a:rPr>
              <a:t>1. Collect large-scale vehicle attribute and price data.</a:t>
            </a:r>
          </a:p>
          <a:p>
            <a:r>
              <a:rPr lang="en-US" sz="1400" dirty="0">
                <a:solidFill>
                  <a:srgbClr val="232A33"/>
                </a:solidFill>
                <a:latin typeface="Aptos"/>
              </a:rPr>
              <a:t>2. Clean, integrate, transform, and engineer vehicle features.</a:t>
            </a:r>
          </a:p>
          <a:p>
            <a:r>
              <a:rPr lang="en-US" sz="1400" dirty="0">
                <a:solidFill>
                  <a:srgbClr val="232A33"/>
                </a:solidFill>
                <a:latin typeface="Aptos"/>
              </a:rPr>
              <a:t>3. Cluster vehicles into comparable market groups.</a:t>
            </a:r>
          </a:p>
          <a:p>
            <a:r>
              <a:rPr lang="en-US" sz="1400" dirty="0">
                <a:solidFill>
                  <a:srgbClr val="232A33"/>
                </a:solidFill>
                <a:latin typeface="Aptos"/>
              </a:rPr>
              <a:t>4. Train a vehicle price prediction model.</a:t>
            </a:r>
          </a:p>
          <a:p>
            <a:r>
              <a:rPr lang="en-US" sz="1400" dirty="0">
                <a:solidFill>
                  <a:srgbClr val="232A33"/>
                </a:solidFill>
                <a:latin typeface="Aptos"/>
              </a:rPr>
              <a:t>5. Validate model performance using residual and prediction-error analysis.</a:t>
            </a:r>
          </a:p>
          <a:p>
            <a:r>
              <a:rPr lang="en-US" sz="1400" dirty="0">
                <a:solidFill>
                  <a:srgbClr val="232A33"/>
                </a:solidFill>
                <a:latin typeface="Aptos"/>
              </a:rPr>
              <a:t>6. Use Shapley-value reasoning to allocate price contribution to features/components.</a:t>
            </a:r>
          </a:p>
          <a:p>
            <a:endParaRPr lang="en-US" sz="1400" dirty="0">
              <a:solidFill>
                <a:srgbClr val="232A33"/>
              </a:solidFill>
              <a:latin typeface="Aptos"/>
            </a:endParaRPr>
          </a:p>
          <a:p>
            <a:r>
              <a:rPr lang="en-US" sz="1400" dirty="0">
                <a:solidFill>
                  <a:srgbClr val="232A33"/>
                </a:solidFill>
                <a:latin typeface="Aptos"/>
              </a:rPr>
              <a:t>Algorithms/methods used:</a:t>
            </a:r>
          </a:p>
          <a:p>
            <a:endParaRPr lang="en-US" sz="1400" dirty="0">
              <a:solidFill>
                <a:srgbClr val="232A33"/>
              </a:solidFill>
              <a:latin typeface="Aptos"/>
            </a:endParaRPr>
          </a:p>
          <a:p>
            <a:r>
              <a:rPr lang="en-US" sz="1400" dirty="0">
                <a:solidFill>
                  <a:srgbClr val="232A33"/>
                </a:solidFill>
                <a:latin typeface="Aptos"/>
              </a:rPr>
              <a:t>- </a:t>
            </a:r>
            <a:r>
              <a:rPr lang="en-US" sz="1400" dirty="0" err="1">
                <a:solidFill>
                  <a:srgbClr val="232A33"/>
                </a:solidFill>
                <a:latin typeface="Aptos"/>
              </a:rPr>
              <a:t>CatBoost</a:t>
            </a:r>
            <a:r>
              <a:rPr lang="en-US" sz="1400" dirty="0">
                <a:solidFill>
                  <a:srgbClr val="232A33"/>
                </a:solidFill>
                <a:latin typeface="Aptos"/>
              </a:rPr>
              <a:t> gradient-boosted decision trees.</a:t>
            </a:r>
          </a:p>
          <a:p>
            <a:r>
              <a:rPr lang="en-US" sz="1400" dirty="0">
                <a:solidFill>
                  <a:srgbClr val="232A33"/>
                </a:solidFill>
                <a:latin typeface="Aptos"/>
              </a:rPr>
              <a:t>- Hierarchical clustering for vehicle grouping.</a:t>
            </a:r>
          </a:p>
          <a:p>
            <a:r>
              <a:rPr lang="en-US" sz="1400" dirty="0">
                <a:solidFill>
                  <a:srgbClr val="232A33"/>
                </a:solidFill>
                <a:latin typeface="Aptos"/>
              </a:rPr>
              <a:t>- t-SNE for cluster visualization.</a:t>
            </a:r>
          </a:p>
          <a:p>
            <a:r>
              <a:rPr lang="en-US" sz="1400" dirty="0">
                <a:solidFill>
                  <a:srgbClr val="232A33"/>
                </a:solidFill>
                <a:latin typeface="Aptos"/>
              </a:rPr>
              <a:t>- Shapley values / SHAP-style feature attribution.</a:t>
            </a:r>
          </a:p>
          <a:p>
            <a:r>
              <a:rPr lang="en-US" sz="1400" dirty="0">
                <a:solidFill>
                  <a:srgbClr val="232A33"/>
                </a:solidFill>
                <a:latin typeface="Aptos"/>
              </a:rPr>
              <a:t>- Cross-validation and residual analysis.</a:t>
            </a:r>
          </a:p>
        </p:txBody>
      </p:sp>
      <p:sp>
        <p:nvSpPr>
          <p:cNvPr id="19" name="TextBox 18">
            <a:extLst>
              <a:ext uri="{FF2B5EF4-FFF2-40B4-BE49-F238E27FC236}">
                <a16:creationId xmlns:a16="http://schemas.microsoft.com/office/drawing/2014/main" id="{54F557DD-B7E1-7E9C-807B-6D002F8BE68D}"/>
              </a:ext>
            </a:extLst>
          </p:cNvPr>
          <p:cNvSpPr txBox="1"/>
          <p:nvPr/>
        </p:nvSpPr>
        <p:spPr>
          <a:xfrm>
            <a:off x="903772" y="1653928"/>
            <a:ext cx="5896396" cy="276999"/>
          </a:xfrm>
          <a:prstGeom prst="rect">
            <a:avLst/>
          </a:prstGeom>
          <a:noFill/>
        </p:spPr>
        <p:txBody>
          <a:bodyPr wrap="square">
            <a:spAutoFit/>
          </a:bodyPr>
          <a:lstStyle/>
          <a:p>
            <a:pPr>
              <a:defRPr sz="1200" b="1">
                <a:solidFill>
                  <a:srgbClr val="276094"/>
                </a:solidFill>
                <a:latin typeface="Aptos"/>
              </a:defRPr>
            </a:pPr>
            <a:r>
              <a:rPr lang="en-US" dirty="0"/>
              <a:t>Explainable AI for a No-Teardown Vehicle Component Cost Estimation</a:t>
            </a:r>
          </a:p>
        </p:txBody>
      </p:sp>
    </p:spTree>
    <p:extLst>
      <p:ext uri="{BB962C8B-B14F-4D97-AF65-F5344CB8AC3E}">
        <p14:creationId xmlns:p14="http://schemas.microsoft.com/office/powerpoint/2010/main" val="601780737"/>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 y="1809538"/>
            <a:ext cx="5896397" cy="3754874"/>
          </a:xfrm>
          <a:prstGeom prst="rect">
            <a:avLst/>
          </a:prstGeom>
          <a:noFill/>
        </p:spPr>
        <p:txBody>
          <a:bodyPr wrap="square">
            <a:spAutoFit/>
          </a:bodyPr>
          <a:lstStyle/>
          <a:p>
            <a:pPr>
              <a:defRPr sz="1400" b="0">
                <a:solidFill>
                  <a:srgbClr val="232A33"/>
                </a:solidFill>
                <a:latin typeface="Aptos"/>
              </a:defRPr>
            </a:pPr>
            <a:r>
              <a:rPr lang="en-US" dirty="0"/>
              <a:t>This paper develops a quotation-costing method for sheet-metal parts using CAD-derived product features and Artificial Neural Networks. It focuses on reducing the time and cost of preparing quotations, especially where detailed tool-layout planning is expensive. The paper uses features such as material, sheet thickness, contours, bends, holes, batch size, and tool-related parameters to estimate progressive-die and manufacturing costs.</a:t>
            </a:r>
          </a:p>
          <a:p>
            <a:pPr>
              <a:defRPr sz="1400" b="0">
                <a:solidFill>
                  <a:srgbClr val="232A33"/>
                </a:solidFill>
                <a:latin typeface="Aptos"/>
              </a:defRPr>
            </a:pPr>
            <a:br>
              <a:rPr lang="en-US" dirty="0"/>
            </a:br>
            <a:endParaRPr lang="en-US" dirty="0"/>
          </a:p>
          <a:p>
            <a:pPr>
              <a:defRPr sz="1400" b="0">
                <a:solidFill>
                  <a:srgbClr val="232A33"/>
                </a:solidFill>
                <a:latin typeface="Aptos"/>
              </a:defRPr>
            </a:pPr>
            <a:r>
              <a:rPr lang="en-US" dirty="0"/>
              <a:t>Relevance to project: This is highly aligned with your drawing/OCR-to-cost direction. It supports the idea that engineering drawing features can become model inputs for automated cost prediction.</a:t>
            </a:r>
          </a:p>
          <a:p>
            <a:pPr>
              <a:defRPr sz="1400" b="0">
                <a:solidFill>
                  <a:srgbClr val="232A33"/>
                </a:solidFill>
                <a:latin typeface="Aptos"/>
              </a:defRPr>
            </a:pPr>
            <a:br>
              <a:rPr lang="en-US" dirty="0"/>
            </a:br>
            <a:endParaRPr lang="en-US" dirty="0"/>
          </a:p>
          <a:p>
            <a:pPr>
              <a:defRPr sz="1400" b="0">
                <a:solidFill>
                  <a:srgbClr val="232A33"/>
                </a:solidFill>
                <a:latin typeface="Aptos"/>
              </a:defRPr>
            </a:pPr>
            <a:r>
              <a:rPr lang="en-US" dirty="0"/>
              <a:t>Review line: This paper justifies using drawing-derived cost drivers and ML models for sheet-metal fair-price or should-cost estimation.</a:t>
            </a:r>
          </a:p>
          <a:p>
            <a:pPr>
              <a:defRPr sz="1400" b="0">
                <a:solidFill>
                  <a:srgbClr val="232A33"/>
                </a:solidFill>
                <a:latin typeface="Aptos"/>
              </a:defRPr>
            </a:pPr>
            <a:endParaRPr lang="en-US" dirty="0"/>
          </a:p>
        </p:txBody>
      </p:sp>
      <p:sp>
        <p:nvSpPr>
          <p:cNvPr id="18" name="TextBox 17">
            <a:extLst>
              <a:ext uri="{FF2B5EF4-FFF2-40B4-BE49-F238E27FC236}">
                <a16:creationId xmlns:a16="http://schemas.microsoft.com/office/drawing/2014/main" id="{4E41FB10-0649-5105-787B-5DD6BFD9F7BE}"/>
              </a:ext>
            </a:extLst>
          </p:cNvPr>
          <p:cNvSpPr txBox="1"/>
          <p:nvPr/>
        </p:nvSpPr>
        <p:spPr>
          <a:xfrm>
            <a:off x="6676601" y="1698325"/>
            <a:ext cx="4863127" cy="3600986"/>
          </a:xfrm>
          <a:prstGeom prst="rect">
            <a:avLst/>
          </a:prstGeom>
          <a:noFill/>
        </p:spPr>
        <p:txBody>
          <a:bodyPr wrap="square">
            <a:spAutoFit/>
          </a:bodyPr>
          <a:lstStyle/>
          <a:p>
            <a:pPr>
              <a:defRPr sz="1400" b="0">
                <a:solidFill>
                  <a:srgbClr val="232A33"/>
                </a:solidFill>
                <a:latin typeface="Aptos"/>
              </a:defRPr>
            </a:pPr>
            <a:r>
              <a:rPr lang="en-US" sz="1200" dirty="0"/>
              <a:t>Pipeline used:</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1. Take customer inquiry and CAD model as input.</a:t>
            </a:r>
          </a:p>
          <a:p>
            <a:pPr>
              <a:defRPr sz="1400" b="0">
                <a:solidFill>
                  <a:srgbClr val="232A33"/>
                </a:solidFill>
                <a:latin typeface="Aptos"/>
              </a:defRPr>
            </a:pPr>
            <a:r>
              <a:rPr lang="en-US" sz="1200" dirty="0"/>
              <a:t>2. Extract geometric and technical features from the CAD model.</a:t>
            </a:r>
          </a:p>
          <a:p>
            <a:pPr>
              <a:defRPr sz="1400" b="0">
                <a:solidFill>
                  <a:srgbClr val="232A33"/>
                </a:solidFill>
                <a:latin typeface="Aptos"/>
              </a:defRPr>
            </a:pPr>
            <a:r>
              <a:rPr lang="en-US" sz="1200" dirty="0"/>
              <a:t>3. Build a product model containing sheet-metal cost drivers.</a:t>
            </a:r>
          </a:p>
          <a:p>
            <a:pPr>
              <a:defRPr sz="1400" b="0">
                <a:solidFill>
                  <a:srgbClr val="232A33"/>
                </a:solidFill>
                <a:latin typeface="Aptos"/>
              </a:defRPr>
            </a:pPr>
            <a:r>
              <a:rPr lang="en-US" sz="1200" dirty="0"/>
              <a:t>4. Convert features into technology-specific base units such as machining time, profile length, bends, holes, and batch size.</a:t>
            </a:r>
          </a:p>
          <a:p>
            <a:pPr>
              <a:defRPr sz="1400" b="0">
                <a:solidFill>
                  <a:srgbClr val="232A33"/>
                </a:solidFill>
                <a:latin typeface="Aptos"/>
              </a:defRPr>
            </a:pPr>
            <a:r>
              <a:rPr lang="en-US" sz="1200" dirty="0"/>
              <a:t>5. Estimate tool and manufacturing costs.</a:t>
            </a:r>
          </a:p>
          <a:p>
            <a:pPr>
              <a:defRPr sz="1400" b="0">
                <a:solidFill>
                  <a:srgbClr val="232A33"/>
                </a:solidFill>
                <a:latin typeface="Aptos"/>
              </a:defRPr>
            </a:pPr>
            <a:r>
              <a:rPr lang="en-US" sz="1200" dirty="0"/>
              <a:t>6. Generate quotation cost using cost sheets and enterprise cost data.</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Algorithms/methods used:</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 Feature-based quotation costing.</a:t>
            </a:r>
          </a:p>
          <a:p>
            <a:pPr>
              <a:defRPr sz="1400" b="0">
                <a:solidFill>
                  <a:srgbClr val="232A33"/>
                </a:solidFill>
                <a:latin typeface="Aptos"/>
              </a:defRPr>
            </a:pPr>
            <a:r>
              <a:rPr lang="en-US" sz="1200" dirty="0"/>
              <a:t>- CAD feature recognition.</a:t>
            </a:r>
          </a:p>
          <a:p>
            <a:pPr>
              <a:defRPr sz="1400" b="0">
                <a:solidFill>
                  <a:srgbClr val="232A33"/>
                </a:solidFill>
                <a:latin typeface="Aptos"/>
              </a:defRPr>
            </a:pPr>
            <a:r>
              <a:rPr lang="en-US" sz="1200" dirty="0"/>
              <a:t>- Analytical geometric analysis.</a:t>
            </a:r>
          </a:p>
          <a:p>
            <a:pPr>
              <a:defRPr sz="1400" b="0">
                <a:solidFill>
                  <a:srgbClr val="232A33"/>
                </a:solidFill>
                <a:latin typeface="Aptos"/>
              </a:defRPr>
            </a:pPr>
            <a:r>
              <a:rPr lang="en-US" sz="1200" dirty="0"/>
              <a:t>- Semantic networks.</a:t>
            </a:r>
          </a:p>
          <a:p>
            <a:pPr>
              <a:defRPr sz="1400" b="0">
                <a:solidFill>
                  <a:srgbClr val="232A33"/>
                </a:solidFill>
                <a:latin typeface="Aptos"/>
              </a:defRPr>
            </a:pPr>
            <a:r>
              <a:rPr lang="en-US" sz="1200" dirty="0"/>
              <a:t>- Artificial Neural Networks for progressive-die tool-cost estimation.</a:t>
            </a:r>
          </a:p>
          <a:p>
            <a:pPr>
              <a:defRPr sz="1400" b="0">
                <a:solidFill>
                  <a:srgbClr val="232A33"/>
                </a:solidFill>
                <a:latin typeface="Aptos"/>
              </a:defRPr>
            </a:pPr>
            <a:r>
              <a:rPr lang="en-US" sz="1200" dirty="0"/>
              <a:t>- </a:t>
            </a:r>
            <a:r>
              <a:rPr lang="en-US" sz="1200" dirty="0" err="1"/>
              <a:t>Quickprop</a:t>
            </a:r>
            <a:r>
              <a:rPr lang="en-US" sz="1200" dirty="0"/>
              <a:t>/FlexNet ANN training approach.</a:t>
            </a:r>
          </a:p>
          <a:p>
            <a:pPr>
              <a:defRPr sz="1400" b="0">
                <a:solidFill>
                  <a:srgbClr val="232A33"/>
                </a:solidFill>
                <a:latin typeface="Aptos"/>
              </a:defRPr>
            </a:pPr>
            <a:r>
              <a:rPr lang="en-US" sz="1200" dirty="0"/>
              <a:t>- Job-order costing and </a:t>
            </a:r>
            <a:r>
              <a:rPr lang="en-US" sz="1200" dirty="0" err="1"/>
              <a:t>workcenter</a:t>
            </a:r>
            <a:r>
              <a:rPr lang="en-US" sz="1200" dirty="0"/>
              <a:t> costing.</a:t>
            </a:r>
          </a:p>
        </p:txBody>
      </p:sp>
      <p:sp>
        <p:nvSpPr>
          <p:cNvPr id="19" name="TextBox 18">
            <a:extLst>
              <a:ext uri="{FF2B5EF4-FFF2-40B4-BE49-F238E27FC236}">
                <a16:creationId xmlns:a16="http://schemas.microsoft.com/office/drawing/2014/main" id="{D7CA724A-4270-22A7-4CE1-F8796131677D}"/>
              </a:ext>
            </a:extLst>
          </p:cNvPr>
          <p:cNvSpPr txBox="1"/>
          <p:nvPr/>
        </p:nvSpPr>
        <p:spPr>
          <a:xfrm>
            <a:off x="1014985" y="1530358"/>
            <a:ext cx="5896396" cy="276999"/>
          </a:xfrm>
          <a:prstGeom prst="rect">
            <a:avLst/>
          </a:prstGeom>
          <a:noFill/>
        </p:spPr>
        <p:txBody>
          <a:bodyPr wrap="square">
            <a:spAutoFit/>
          </a:bodyPr>
          <a:lstStyle/>
          <a:p>
            <a:pPr>
              <a:defRPr sz="1200" b="1">
                <a:solidFill>
                  <a:srgbClr val="276094"/>
                </a:solidFill>
                <a:latin typeface="Aptos"/>
              </a:defRPr>
            </a:pPr>
            <a:r>
              <a:rPr lang="en-US" dirty="0"/>
              <a:t>Estimation for Large Scale Production of Sheet Metal Parts Using ANN</a:t>
            </a:r>
          </a:p>
        </p:txBody>
      </p:sp>
    </p:spTree>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14ABD-1E0E-8FAD-34EB-761E32A555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A0065A-8D4D-8F79-2F8F-5BCBC652F90A}"/>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ED0BDEDF-8EA3-CA03-FD3E-C4D60E77A2FB}"/>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F2851177-097E-87DF-4EC1-ABAEE4B71933}"/>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318F36C-1D49-491A-36C5-28A25066B438}"/>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14CFB1F7-DBA2-B46D-5701-4D97E182C0D4}"/>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17C83A42-0211-A0E6-AEA8-1AD4310D8866}"/>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BCABBF74-A102-8418-0787-863A6177D453}"/>
              </a:ext>
            </a:extLst>
          </p:cNvPr>
          <p:cNvSpPr txBox="1"/>
          <p:nvPr/>
        </p:nvSpPr>
        <p:spPr>
          <a:xfrm>
            <a:off x="850392" y="2007248"/>
            <a:ext cx="5896397" cy="3754874"/>
          </a:xfrm>
          <a:prstGeom prst="rect">
            <a:avLst/>
          </a:prstGeom>
          <a:noFill/>
        </p:spPr>
        <p:txBody>
          <a:bodyPr wrap="square">
            <a:spAutoFit/>
          </a:bodyPr>
          <a:lstStyle/>
          <a:p>
            <a:pPr>
              <a:defRPr sz="1400" b="0">
                <a:solidFill>
                  <a:srgbClr val="232A33"/>
                </a:solidFill>
                <a:latin typeface="Aptos"/>
              </a:defRPr>
            </a:pPr>
            <a:r>
              <a:rPr lang="en-US" dirty="0"/>
              <a:t>This recent paper proposes an ML framework for estimating manufacturing cost directly from 2D engineering drawings. It extracts around 200 geometric and statistical descriptors from 13,684 DWG drawings across 24 automotive part groups. Gradient-boosted models such as </a:t>
            </a:r>
            <a:r>
              <a:rPr lang="en-US" dirty="0" err="1"/>
              <a:t>XGBoost</a:t>
            </a:r>
            <a:r>
              <a:rPr lang="en-US" dirty="0"/>
              <a:t>, </a:t>
            </a:r>
            <a:r>
              <a:rPr lang="en-US" dirty="0" err="1"/>
              <a:t>CatBoost</a:t>
            </a:r>
            <a:r>
              <a:rPr lang="en-US" dirty="0"/>
              <a:t>, and </a:t>
            </a:r>
            <a:r>
              <a:rPr lang="en-US" dirty="0" err="1"/>
              <a:t>LightGBM</a:t>
            </a:r>
            <a:r>
              <a:rPr lang="en-US" dirty="0"/>
              <a:t> achieve about 10 percent MAPE, and SHAP is used to identify important geometric cost drivers.</a:t>
            </a:r>
          </a:p>
          <a:p>
            <a:pPr>
              <a:defRPr sz="1400" b="0">
                <a:solidFill>
                  <a:srgbClr val="232A33"/>
                </a:solidFill>
                <a:latin typeface="Aptos"/>
              </a:defRPr>
            </a:pPr>
            <a:br>
              <a:rPr lang="en-US" dirty="0"/>
            </a:br>
            <a:endParaRPr lang="en-US" dirty="0"/>
          </a:p>
          <a:p>
            <a:pPr>
              <a:defRPr sz="1400" b="0">
                <a:solidFill>
                  <a:srgbClr val="232A33"/>
                </a:solidFill>
                <a:latin typeface="Aptos"/>
              </a:defRPr>
            </a:pPr>
            <a:r>
              <a:rPr lang="en-US" dirty="0"/>
              <a:t>Relevance to project: This is one of the strongest recent supports for your next phase. It directly supports drawing-to-cost automation, geometric feature extraction, explainable prediction, and ERP-integrated cost decision support.</a:t>
            </a:r>
          </a:p>
          <a:p>
            <a:pPr>
              <a:defRPr sz="1400" b="0">
                <a:solidFill>
                  <a:srgbClr val="232A33"/>
                </a:solidFill>
                <a:latin typeface="Aptos"/>
              </a:defRPr>
            </a:pPr>
            <a:br>
              <a:rPr lang="en-US" dirty="0"/>
            </a:br>
            <a:endParaRPr lang="en-US" dirty="0"/>
          </a:p>
          <a:p>
            <a:pPr>
              <a:defRPr sz="1400" b="0">
                <a:solidFill>
                  <a:srgbClr val="232A33"/>
                </a:solidFill>
                <a:latin typeface="Aptos"/>
              </a:defRPr>
            </a:pPr>
            <a:r>
              <a:rPr lang="en-US" dirty="0"/>
              <a:t>Review line: This paper supports my next step of replacing synthetic engineering fields with OCR/CAD-derived drawing features for automated should-cost template generation.</a:t>
            </a:r>
          </a:p>
        </p:txBody>
      </p:sp>
      <p:sp>
        <p:nvSpPr>
          <p:cNvPr id="18" name="TextBox 17">
            <a:extLst>
              <a:ext uri="{FF2B5EF4-FFF2-40B4-BE49-F238E27FC236}">
                <a16:creationId xmlns:a16="http://schemas.microsoft.com/office/drawing/2014/main" id="{325B2A46-B220-C546-FCE6-5018E8285937}"/>
              </a:ext>
            </a:extLst>
          </p:cNvPr>
          <p:cNvSpPr txBox="1"/>
          <p:nvPr/>
        </p:nvSpPr>
        <p:spPr>
          <a:xfrm>
            <a:off x="6676601" y="1698325"/>
            <a:ext cx="4863127" cy="3970318"/>
          </a:xfrm>
          <a:prstGeom prst="rect">
            <a:avLst/>
          </a:prstGeom>
          <a:noFill/>
        </p:spPr>
        <p:txBody>
          <a:bodyPr wrap="square">
            <a:spAutoFit/>
          </a:bodyPr>
          <a:lstStyle/>
          <a:p>
            <a:pPr>
              <a:defRPr sz="1400" b="0">
                <a:solidFill>
                  <a:srgbClr val="232A33"/>
                </a:solidFill>
                <a:latin typeface="Aptos"/>
              </a:defRPr>
            </a:pPr>
            <a:r>
              <a:rPr lang="en-US" sz="1200" dirty="0"/>
              <a:t>Pipeline used:</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1. Collect 2D DWG engineering drawings and historical cost/price records.</a:t>
            </a:r>
          </a:p>
          <a:p>
            <a:pPr>
              <a:defRPr sz="1400" b="0">
                <a:solidFill>
                  <a:srgbClr val="232A33"/>
                </a:solidFill>
                <a:latin typeface="Aptos"/>
              </a:defRPr>
            </a:pPr>
            <a:r>
              <a:rPr lang="en-US" sz="1200" dirty="0"/>
              <a:t>2. Extract geometric and statistical descriptors from drawings.</a:t>
            </a:r>
          </a:p>
          <a:p>
            <a:pPr>
              <a:defRPr sz="1400" b="0">
                <a:solidFill>
                  <a:srgbClr val="232A33"/>
                </a:solidFill>
                <a:latin typeface="Aptos"/>
              </a:defRPr>
            </a:pPr>
            <a:r>
              <a:rPr lang="en-US" sz="1200" dirty="0"/>
              <a:t>3. Build drawing-level feature vectors.</a:t>
            </a:r>
          </a:p>
          <a:p>
            <a:pPr>
              <a:defRPr sz="1400" b="0">
                <a:solidFill>
                  <a:srgbClr val="232A33"/>
                </a:solidFill>
                <a:latin typeface="Aptos"/>
              </a:defRPr>
            </a:pPr>
            <a:r>
              <a:rPr lang="en-US" sz="1200" dirty="0"/>
              <a:t>4. Train gradient-boosted machine-learning models.</a:t>
            </a:r>
          </a:p>
          <a:p>
            <a:pPr>
              <a:defRPr sz="1400" b="0">
                <a:solidFill>
                  <a:srgbClr val="232A33"/>
                </a:solidFill>
                <a:latin typeface="Aptos"/>
              </a:defRPr>
            </a:pPr>
            <a:r>
              <a:rPr lang="en-US" sz="1200" dirty="0"/>
              <a:t>5. Evaluate prediction accuracy across automotive part groups.</a:t>
            </a:r>
          </a:p>
          <a:p>
            <a:pPr>
              <a:defRPr sz="1400" b="0">
                <a:solidFill>
                  <a:srgbClr val="232A33"/>
                </a:solidFill>
                <a:latin typeface="Aptos"/>
              </a:defRPr>
            </a:pPr>
            <a:r>
              <a:rPr lang="en-US" sz="1200" dirty="0"/>
              <a:t>6. Use SHAP to explain which drawing features drive cost.</a:t>
            </a:r>
          </a:p>
          <a:p>
            <a:pPr>
              <a:defRPr sz="1400" b="0">
                <a:solidFill>
                  <a:srgbClr val="232A33"/>
                </a:solidFill>
                <a:latin typeface="Aptos"/>
              </a:defRPr>
            </a:pPr>
            <a:r>
              <a:rPr lang="en-US" sz="1200" dirty="0"/>
              <a:t>7. Position the approach as a deployable CAD-to-cost and ERP-integrated decision-support pipeline.</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Algorithms/methods used:</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 </a:t>
            </a:r>
            <a:r>
              <a:rPr lang="en-US" sz="1200" dirty="0" err="1"/>
              <a:t>XGBoost</a:t>
            </a:r>
            <a:r>
              <a:rPr lang="en-US" sz="1200" dirty="0"/>
              <a:t>.</a:t>
            </a:r>
          </a:p>
          <a:p>
            <a:pPr>
              <a:defRPr sz="1400" b="0">
                <a:solidFill>
                  <a:srgbClr val="232A33"/>
                </a:solidFill>
                <a:latin typeface="Aptos"/>
              </a:defRPr>
            </a:pPr>
            <a:r>
              <a:rPr lang="en-US" sz="1200" dirty="0"/>
              <a:t>- </a:t>
            </a:r>
            <a:r>
              <a:rPr lang="en-US" sz="1200" dirty="0" err="1"/>
              <a:t>CatBoost</a:t>
            </a:r>
            <a:r>
              <a:rPr lang="en-US" sz="1200" dirty="0"/>
              <a:t>.</a:t>
            </a:r>
          </a:p>
          <a:p>
            <a:pPr>
              <a:defRPr sz="1400" b="0">
                <a:solidFill>
                  <a:srgbClr val="232A33"/>
                </a:solidFill>
                <a:latin typeface="Aptos"/>
              </a:defRPr>
            </a:pPr>
            <a:r>
              <a:rPr lang="en-US" sz="1200" dirty="0"/>
              <a:t>- </a:t>
            </a:r>
            <a:r>
              <a:rPr lang="en-US" sz="1200" dirty="0" err="1"/>
              <a:t>LightGBM</a:t>
            </a:r>
            <a:r>
              <a:rPr lang="en-US" sz="1200" dirty="0"/>
              <a:t>.</a:t>
            </a:r>
          </a:p>
          <a:p>
            <a:pPr>
              <a:defRPr sz="1400" b="0">
                <a:solidFill>
                  <a:srgbClr val="232A33"/>
                </a:solidFill>
                <a:latin typeface="Aptos"/>
              </a:defRPr>
            </a:pPr>
            <a:r>
              <a:rPr lang="en-US" sz="1200" dirty="0"/>
              <a:t>- Gradient-boosted decision trees.</a:t>
            </a:r>
          </a:p>
          <a:p>
            <a:pPr>
              <a:defRPr sz="1400" b="0">
                <a:solidFill>
                  <a:srgbClr val="232A33"/>
                </a:solidFill>
                <a:latin typeface="Aptos"/>
              </a:defRPr>
            </a:pPr>
            <a:r>
              <a:rPr lang="en-US" sz="1200" dirty="0"/>
              <a:t>- SHAP explainability.</a:t>
            </a:r>
          </a:p>
          <a:p>
            <a:pPr>
              <a:defRPr sz="1400" b="0">
                <a:solidFill>
                  <a:srgbClr val="232A33"/>
                </a:solidFill>
                <a:latin typeface="Aptos"/>
              </a:defRPr>
            </a:pPr>
            <a:r>
              <a:rPr lang="en-US" sz="1200" dirty="0"/>
              <a:t>- Geometric and statistical feature extraction from 2D drawings.</a:t>
            </a:r>
          </a:p>
          <a:p>
            <a:pPr>
              <a:defRPr sz="1400" b="0">
                <a:solidFill>
                  <a:srgbClr val="232A33"/>
                </a:solidFill>
                <a:latin typeface="Aptos"/>
              </a:defRPr>
            </a:pPr>
            <a:r>
              <a:rPr lang="en-US" sz="1200" dirty="0"/>
              <a:t>- MAPE-based model evaluation.</a:t>
            </a:r>
          </a:p>
        </p:txBody>
      </p:sp>
      <p:sp>
        <p:nvSpPr>
          <p:cNvPr id="19" name="TextBox 18">
            <a:extLst>
              <a:ext uri="{FF2B5EF4-FFF2-40B4-BE49-F238E27FC236}">
                <a16:creationId xmlns:a16="http://schemas.microsoft.com/office/drawing/2014/main" id="{CE50C2F1-7A02-D5F2-841A-E0A62858AEF2}"/>
              </a:ext>
            </a:extLst>
          </p:cNvPr>
          <p:cNvSpPr txBox="1"/>
          <p:nvPr/>
        </p:nvSpPr>
        <p:spPr>
          <a:xfrm>
            <a:off x="1014985" y="1530358"/>
            <a:ext cx="5896396" cy="461665"/>
          </a:xfrm>
          <a:prstGeom prst="rect">
            <a:avLst/>
          </a:prstGeom>
          <a:noFill/>
        </p:spPr>
        <p:txBody>
          <a:bodyPr wrap="square">
            <a:spAutoFit/>
          </a:bodyPr>
          <a:lstStyle/>
          <a:p>
            <a:pPr>
              <a:defRPr sz="1200" b="1">
                <a:solidFill>
                  <a:srgbClr val="276094"/>
                </a:solidFill>
                <a:latin typeface="Aptos"/>
              </a:defRPr>
            </a:pPr>
            <a:r>
              <a:rPr lang="en-US" sz="1200" b="1" dirty="0"/>
              <a:t>Machine Learning-Based Manufacturing Cost Prediction from 2D Engineering Drawings via Geometric Features</a:t>
            </a:r>
            <a:endParaRPr lang="en-US" sz="1200" dirty="0"/>
          </a:p>
        </p:txBody>
      </p:sp>
    </p:spTree>
    <p:extLst>
      <p:ext uri="{BB962C8B-B14F-4D97-AF65-F5344CB8AC3E}">
        <p14:creationId xmlns:p14="http://schemas.microsoft.com/office/powerpoint/2010/main" val="2241635723"/>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2A513-5012-D224-0E26-951A7207FD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CE9F2E-A012-1331-EC34-6BAD686D6966}"/>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2429A2E6-CD7D-0616-433C-0F0EFE6ADCC5}"/>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956B78E2-E2AE-8FB8-798F-A4C86786D142}"/>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D07A49D-CBD4-F44C-51D1-2FC4D6A10D1F}"/>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9B8616A2-1BF4-5188-3570-A3EF42031ECA}"/>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C51983A7-EE80-DAA9-16C7-DE8599E7A1EE}"/>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78CE7F5E-557F-C97C-7EF6-04312BB5E012}"/>
              </a:ext>
            </a:extLst>
          </p:cNvPr>
          <p:cNvSpPr txBox="1"/>
          <p:nvPr/>
        </p:nvSpPr>
        <p:spPr>
          <a:xfrm>
            <a:off x="850392" y="1883680"/>
            <a:ext cx="5896397" cy="2893100"/>
          </a:xfrm>
          <a:prstGeom prst="rect">
            <a:avLst/>
          </a:prstGeom>
          <a:noFill/>
        </p:spPr>
        <p:txBody>
          <a:bodyPr wrap="square">
            <a:spAutoFit/>
          </a:bodyPr>
          <a:lstStyle/>
          <a:p>
            <a:r>
              <a:rPr lang="en-US" sz="1400" dirty="0">
                <a:solidFill>
                  <a:srgbClr val="232A33"/>
                </a:solidFill>
                <a:latin typeface="Aptos"/>
              </a:rPr>
              <a:t>This paper proposes a methodology for estimating the cost of implementing a digital twin in an industrial setting. It considers the company's current digitalization level, required IT infrastructure, hardware, software, implementation effort, running costs, indirect costs, and digital twin application area. The approach is implemented as an Excel-based tool and validated through an industry use case.</a:t>
            </a:r>
          </a:p>
          <a:p>
            <a:endParaRPr lang="en-US" sz="1400" dirty="0">
              <a:solidFill>
                <a:srgbClr val="232A33"/>
              </a:solidFill>
              <a:latin typeface="Aptos"/>
            </a:endParaRPr>
          </a:p>
          <a:p>
            <a:r>
              <a:rPr lang="en-US" sz="1400" dirty="0">
                <a:solidFill>
                  <a:srgbClr val="232A33"/>
                </a:solidFill>
                <a:latin typeface="Aptos"/>
              </a:rPr>
              <a:t>Relevance to project: This supports the digital-twin framing and shows that digital twin systems can be studied through structured cost factors and implementation logic.</a:t>
            </a:r>
          </a:p>
          <a:p>
            <a:endParaRPr lang="en-US" sz="1400" dirty="0">
              <a:solidFill>
                <a:srgbClr val="232A33"/>
              </a:solidFill>
              <a:latin typeface="Aptos"/>
            </a:endParaRPr>
          </a:p>
          <a:p>
            <a:r>
              <a:rPr lang="en-US" sz="1400" dirty="0">
                <a:solidFill>
                  <a:srgbClr val="232A33"/>
                </a:solidFill>
                <a:latin typeface="Aptos"/>
              </a:rPr>
              <a:t>Review line: This paper supports the framing of system as a cost-oriented digital twin that combines data, models, and decision support.</a:t>
            </a:r>
          </a:p>
        </p:txBody>
      </p:sp>
      <p:sp>
        <p:nvSpPr>
          <p:cNvPr id="18" name="TextBox 17">
            <a:extLst>
              <a:ext uri="{FF2B5EF4-FFF2-40B4-BE49-F238E27FC236}">
                <a16:creationId xmlns:a16="http://schemas.microsoft.com/office/drawing/2014/main" id="{C5753AA4-48C5-8348-749A-EF43DCB23D03}"/>
              </a:ext>
            </a:extLst>
          </p:cNvPr>
          <p:cNvSpPr txBox="1"/>
          <p:nvPr/>
        </p:nvSpPr>
        <p:spPr>
          <a:xfrm>
            <a:off x="6676601" y="1710682"/>
            <a:ext cx="4829599" cy="4185761"/>
          </a:xfrm>
          <a:prstGeom prst="rect">
            <a:avLst/>
          </a:prstGeom>
          <a:noFill/>
        </p:spPr>
        <p:txBody>
          <a:bodyPr wrap="square">
            <a:spAutoFit/>
          </a:bodyPr>
          <a:lstStyle/>
          <a:p>
            <a:r>
              <a:rPr lang="en-US" sz="1400" dirty="0">
                <a:solidFill>
                  <a:srgbClr val="232A33"/>
                </a:solidFill>
                <a:latin typeface="Aptos"/>
              </a:rPr>
              <a:t>Pipeline used:</a:t>
            </a:r>
          </a:p>
          <a:p>
            <a:endParaRPr lang="en-US" sz="1400" dirty="0">
              <a:solidFill>
                <a:srgbClr val="232A33"/>
              </a:solidFill>
              <a:latin typeface="Aptos"/>
            </a:endParaRPr>
          </a:p>
          <a:p>
            <a:r>
              <a:rPr lang="en-US" sz="1400" dirty="0">
                <a:solidFill>
                  <a:srgbClr val="232A33"/>
                </a:solidFill>
                <a:latin typeface="Aptos"/>
              </a:rPr>
              <a:t>1. Identify digital twin application areas.</a:t>
            </a:r>
          </a:p>
          <a:p>
            <a:r>
              <a:rPr lang="en-US" sz="1400" dirty="0">
                <a:solidFill>
                  <a:srgbClr val="232A33"/>
                </a:solidFill>
                <a:latin typeface="Aptos"/>
              </a:rPr>
              <a:t>2. Derive digital twin requirements.</a:t>
            </a:r>
          </a:p>
          <a:p>
            <a:r>
              <a:rPr lang="en-US" sz="1400" dirty="0">
                <a:solidFill>
                  <a:srgbClr val="232A33"/>
                </a:solidFill>
                <a:latin typeface="Aptos"/>
              </a:rPr>
              <a:t>3. Map requirements to required IT infrastructure.</a:t>
            </a:r>
          </a:p>
          <a:p>
            <a:r>
              <a:rPr lang="en-US" sz="1400" dirty="0">
                <a:solidFill>
                  <a:srgbClr val="232A33"/>
                </a:solidFill>
                <a:latin typeface="Aptos"/>
              </a:rPr>
              <a:t>4. Identify cost types for implementation and operation.</a:t>
            </a:r>
          </a:p>
          <a:p>
            <a:r>
              <a:rPr lang="en-US" sz="1400" dirty="0">
                <a:solidFill>
                  <a:srgbClr val="232A33"/>
                </a:solidFill>
                <a:latin typeface="Aptos"/>
              </a:rPr>
              <a:t>5. Assess company digitalization level using checklists.</a:t>
            </a:r>
          </a:p>
          <a:p>
            <a:r>
              <a:rPr lang="en-US" sz="1400" dirty="0">
                <a:solidFill>
                  <a:srgbClr val="232A33"/>
                </a:solidFill>
                <a:latin typeface="Aptos"/>
              </a:rPr>
              <a:t>6. Calculate implementation cost using parameters and maturity factors.</a:t>
            </a:r>
          </a:p>
          <a:p>
            <a:r>
              <a:rPr lang="en-US" sz="1400" dirty="0">
                <a:solidFill>
                  <a:srgbClr val="232A33"/>
                </a:solidFill>
                <a:latin typeface="Aptos"/>
              </a:rPr>
              <a:t>7. Validate the approach using an industry use case.</a:t>
            </a:r>
          </a:p>
          <a:p>
            <a:endParaRPr lang="en-US" sz="1400" dirty="0">
              <a:solidFill>
                <a:srgbClr val="232A33"/>
              </a:solidFill>
              <a:latin typeface="Aptos"/>
            </a:endParaRPr>
          </a:p>
          <a:p>
            <a:r>
              <a:rPr lang="en-US" sz="1400" dirty="0">
                <a:solidFill>
                  <a:srgbClr val="232A33"/>
                </a:solidFill>
                <a:latin typeface="Aptos"/>
              </a:rPr>
              <a:t>Algorithms/methods used:</a:t>
            </a:r>
          </a:p>
          <a:p>
            <a:endParaRPr lang="en-US" sz="1400" dirty="0">
              <a:solidFill>
                <a:srgbClr val="232A33"/>
              </a:solidFill>
              <a:latin typeface="Aptos"/>
            </a:endParaRPr>
          </a:p>
          <a:p>
            <a:r>
              <a:rPr lang="en-US" sz="1400" dirty="0">
                <a:solidFill>
                  <a:srgbClr val="232A33"/>
                </a:solidFill>
                <a:latin typeface="Aptos"/>
              </a:rPr>
              <a:t>- Total Cost of Ownership approach.</a:t>
            </a:r>
          </a:p>
          <a:p>
            <a:r>
              <a:rPr lang="en-US" sz="1400" dirty="0">
                <a:solidFill>
                  <a:srgbClr val="232A33"/>
                </a:solidFill>
                <a:latin typeface="Aptos"/>
              </a:rPr>
              <a:t>- Requirement analysis.</a:t>
            </a:r>
          </a:p>
          <a:p>
            <a:r>
              <a:rPr lang="en-US" sz="1400" dirty="0">
                <a:solidFill>
                  <a:srgbClr val="232A33"/>
                </a:solidFill>
                <a:latin typeface="Aptos"/>
              </a:rPr>
              <a:t>- Checklist-based digital maturity scoring.</a:t>
            </a:r>
          </a:p>
          <a:p>
            <a:r>
              <a:rPr lang="en-US" sz="1400" dirty="0">
                <a:solidFill>
                  <a:srgbClr val="232A33"/>
                </a:solidFill>
                <a:latin typeface="Aptos"/>
              </a:rPr>
              <a:t>- Parameterized cost calculation.</a:t>
            </a:r>
          </a:p>
          <a:p>
            <a:r>
              <a:rPr lang="en-US" sz="1400" dirty="0">
                <a:solidFill>
                  <a:srgbClr val="232A33"/>
                </a:solidFill>
                <a:latin typeface="Aptos"/>
              </a:rPr>
              <a:t>- Cost-type classification.</a:t>
            </a:r>
          </a:p>
          <a:p>
            <a:r>
              <a:rPr lang="en-US" sz="1400" dirty="0">
                <a:solidFill>
                  <a:srgbClr val="232A33"/>
                </a:solidFill>
                <a:latin typeface="Aptos"/>
              </a:rPr>
              <a:t>- Excel-based estimation tool.</a:t>
            </a:r>
          </a:p>
        </p:txBody>
      </p:sp>
      <p:sp>
        <p:nvSpPr>
          <p:cNvPr id="19" name="TextBox 18">
            <a:extLst>
              <a:ext uri="{FF2B5EF4-FFF2-40B4-BE49-F238E27FC236}">
                <a16:creationId xmlns:a16="http://schemas.microsoft.com/office/drawing/2014/main" id="{40787EB9-002C-0845-E9E3-6C58B6F88CC8}"/>
              </a:ext>
            </a:extLst>
          </p:cNvPr>
          <p:cNvSpPr txBox="1"/>
          <p:nvPr/>
        </p:nvSpPr>
        <p:spPr>
          <a:xfrm>
            <a:off x="1014985" y="1530358"/>
            <a:ext cx="5896396" cy="276999"/>
          </a:xfrm>
          <a:prstGeom prst="rect">
            <a:avLst/>
          </a:prstGeom>
          <a:noFill/>
        </p:spPr>
        <p:txBody>
          <a:bodyPr wrap="square">
            <a:spAutoFit/>
          </a:bodyPr>
          <a:lstStyle/>
          <a:p>
            <a:pPr>
              <a:defRPr sz="1200" b="1">
                <a:solidFill>
                  <a:srgbClr val="276094"/>
                </a:solidFill>
                <a:latin typeface="Aptos"/>
              </a:defRPr>
            </a:pPr>
            <a:r>
              <a:rPr lang="en-US" dirty="0"/>
              <a:t>Cost Estimation Approach of a Digital Twin Implementation in Industry</a:t>
            </a:r>
          </a:p>
        </p:txBody>
      </p:sp>
    </p:spTree>
    <p:extLst>
      <p:ext uri="{BB962C8B-B14F-4D97-AF65-F5344CB8AC3E}">
        <p14:creationId xmlns:p14="http://schemas.microsoft.com/office/powerpoint/2010/main" val="3877185936"/>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59DF0-0727-16A4-7CB2-1C9410504F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00C722-DC2C-AC31-43FD-52D7B22828FB}"/>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D41421DE-1F48-1871-BA64-693F9F24AE0D}"/>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15BA1730-7962-F1B2-766E-2FA1060B0587}"/>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0783F38-9B69-1084-8406-14747AC00729}"/>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551EF203-D0C7-3D89-EA0A-8D199F8DB95F}"/>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BCD3B7B2-0CAA-0BEE-311C-2E58E413234C}"/>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01D197D-0794-0063-8173-04FF0027E75C}"/>
              </a:ext>
            </a:extLst>
          </p:cNvPr>
          <p:cNvSpPr txBox="1"/>
          <p:nvPr/>
        </p:nvSpPr>
        <p:spPr>
          <a:xfrm>
            <a:off x="780205" y="2103545"/>
            <a:ext cx="5595882" cy="3539430"/>
          </a:xfrm>
          <a:prstGeom prst="rect">
            <a:avLst/>
          </a:prstGeom>
          <a:noFill/>
        </p:spPr>
        <p:txBody>
          <a:bodyPr wrap="square">
            <a:spAutoFit/>
          </a:bodyPr>
          <a:lstStyle/>
          <a:p>
            <a:r>
              <a:rPr lang="en-US" sz="1400" dirty="0">
                <a:solidFill>
                  <a:srgbClr val="232A33"/>
                </a:solidFill>
                <a:latin typeface="Aptos"/>
              </a:rPr>
              <a:t>This paper proposes a manufacturing cost prediction process using 3D CAD models and explainable AI. It uses deep learning to predict CNC machining cost and applies 3D Grad-CAM to visualize which machining features increase cost. The key contribution is not only cost prediction, but also explaining the geometric features responsible for the prediction.</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Relevance to project: This supports your XAI requirement. It helps justify why your model should explain cost drivers such as weight, thickness, bends, holes, material, and surface finish.</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Review line: This paper supports using explainable AI so that cost predictions are not black-box outputs but are connected to visible manufacturing features.</a:t>
            </a:r>
          </a:p>
        </p:txBody>
      </p:sp>
      <p:sp>
        <p:nvSpPr>
          <p:cNvPr id="18" name="TextBox 17">
            <a:extLst>
              <a:ext uri="{FF2B5EF4-FFF2-40B4-BE49-F238E27FC236}">
                <a16:creationId xmlns:a16="http://schemas.microsoft.com/office/drawing/2014/main" id="{5079D42A-6C38-4F05-17DA-115CF5CC1317}"/>
              </a:ext>
            </a:extLst>
          </p:cNvPr>
          <p:cNvSpPr txBox="1"/>
          <p:nvPr/>
        </p:nvSpPr>
        <p:spPr>
          <a:xfrm>
            <a:off x="6376087" y="1710682"/>
            <a:ext cx="5130113" cy="4185761"/>
          </a:xfrm>
          <a:prstGeom prst="rect">
            <a:avLst/>
          </a:prstGeom>
          <a:noFill/>
        </p:spPr>
        <p:txBody>
          <a:bodyPr wrap="square">
            <a:spAutoFit/>
          </a:bodyPr>
          <a:lstStyle/>
          <a:p>
            <a:r>
              <a:rPr lang="en-US" sz="1400" dirty="0">
                <a:solidFill>
                  <a:srgbClr val="232A33"/>
                </a:solidFill>
                <a:latin typeface="Aptos"/>
              </a:rPr>
              <a:t>Pipeline used:</a:t>
            </a:r>
          </a:p>
          <a:p>
            <a:r>
              <a:rPr lang="en-US" sz="1400" dirty="0">
                <a:solidFill>
                  <a:srgbClr val="232A33"/>
                </a:solidFill>
                <a:latin typeface="Aptos"/>
              </a:rPr>
              <a:t>1. Collect 3D CAD models, material data, volume data, and cost/price data.</a:t>
            </a:r>
          </a:p>
          <a:p>
            <a:r>
              <a:rPr lang="en-US" sz="1400" dirty="0">
                <a:solidFill>
                  <a:srgbClr val="232A33"/>
                </a:solidFill>
                <a:latin typeface="Aptos"/>
              </a:rPr>
              <a:t>2. Convert CAD models into mesh, voxel, or point-cloud representations.</a:t>
            </a:r>
          </a:p>
          <a:p>
            <a:r>
              <a:rPr lang="en-US" sz="1400" dirty="0">
                <a:solidFill>
                  <a:srgbClr val="232A33"/>
                </a:solidFill>
                <a:latin typeface="Aptos"/>
              </a:rPr>
              <a:t>3. Normalize cost and volume data and encode material data.</a:t>
            </a:r>
          </a:p>
          <a:p>
            <a:r>
              <a:rPr lang="en-US" sz="1400" dirty="0">
                <a:solidFill>
                  <a:srgbClr val="232A33"/>
                </a:solidFill>
                <a:latin typeface="Aptos"/>
              </a:rPr>
              <a:t>4. Train deep-learning models for manufacturing cost prediction.</a:t>
            </a:r>
          </a:p>
          <a:p>
            <a:r>
              <a:rPr lang="en-US" sz="1400" dirty="0">
                <a:solidFill>
                  <a:srgbClr val="232A33"/>
                </a:solidFill>
                <a:latin typeface="Aptos"/>
              </a:rPr>
              <a:t>5. Select the best-performing 3D model.</a:t>
            </a:r>
          </a:p>
          <a:p>
            <a:r>
              <a:rPr lang="en-US" sz="1400" dirty="0">
                <a:solidFill>
                  <a:srgbClr val="232A33"/>
                </a:solidFill>
                <a:latin typeface="Aptos"/>
              </a:rPr>
              <a:t>6. Use visualization to explain which machining features increase cost.</a:t>
            </a:r>
          </a:p>
          <a:p>
            <a:endParaRPr lang="en-US" sz="1400" dirty="0">
              <a:solidFill>
                <a:srgbClr val="232A33"/>
              </a:solidFill>
              <a:latin typeface="Aptos"/>
            </a:endParaRPr>
          </a:p>
          <a:p>
            <a:r>
              <a:rPr lang="en-US" sz="1400" dirty="0">
                <a:solidFill>
                  <a:srgbClr val="232A33"/>
                </a:solidFill>
                <a:latin typeface="Aptos"/>
              </a:rPr>
              <a:t>Algorithms/methods used:</a:t>
            </a:r>
          </a:p>
          <a:p>
            <a:r>
              <a:rPr lang="en-US" sz="1400" dirty="0">
                <a:solidFill>
                  <a:srgbClr val="232A33"/>
                </a:solidFill>
                <a:latin typeface="Aptos"/>
              </a:rPr>
              <a:t>- 3D Convolutional Neural Network.</a:t>
            </a:r>
          </a:p>
          <a:p>
            <a:r>
              <a:rPr lang="en-US" sz="1400" dirty="0">
                <a:solidFill>
                  <a:srgbClr val="232A33"/>
                </a:solidFill>
                <a:latin typeface="Aptos"/>
              </a:rPr>
              <a:t>- </a:t>
            </a:r>
            <a:r>
              <a:rPr lang="en-US" sz="1400" dirty="0" err="1">
                <a:solidFill>
                  <a:srgbClr val="232A33"/>
                </a:solidFill>
                <a:latin typeface="Aptos"/>
              </a:rPr>
              <a:t>PointNet</a:t>
            </a:r>
            <a:r>
              <a:rPr lang="en-US" sz="1400" dirty="0">
                <a:solidFill>
                  <a:srgbClr val="232A33"/>
                </a:solidFill>
                <a:latin typeface="Aptos"/>
              </a:rPr>
              <a:t> and </a:t>
            </a:r>
            <a:r>
              <a:rPr lang="en-US" sz="1400" dirty="0" err="1">
                <a:solidFill>
                  <a:srgbClr val="232A33"/>
                </a:solidFill>
                <a:latin typeface="Aptos"/>
              </a:rPr>
              <a:t>VoxNet</a:t>
            </a:r>
            <a:r>
              <a:rPr lang="en-US" sz="1400" dirty="0">
                <a:solidFill>
                  <a:srgbClr val="232A33"/>
                </a:solidFill>
                <a:latin typeface="Aptos"/>
              </a:rPr>
              <a:t> baselines.</a:t>
            </a:r>
          </a:p>
          <a:p>
            <a:r>
              <a:rPr lang="en-US" sz="1400" dirty="0">
                <a:solidFill>
                  <a:srgbClr val="232A33"/>
                </a:solidFill>
                <a:latin typeface="Aptos"/>
              </a:rPr>
              <a:t>- 3D Grad-CAM for explainability.</a:t>
            </a:r>
          </a:p>
          <a:p>
            <a:r>
              <a:rPr lang="en-US" sz="1400" dirty="0">
                <a:solidFill>
                  <a:srgbClr val="232A33"/>
                </a:solidFill>
                <a:latin typeface="Aptos"/>
              </a:rPr>
              <a:t>- Min-max normalization and log normalization.</a:t>
            </a:r>
          </a:p>
          <a:p>
            <a:r>
              <a:rPr lang="en-US" sz="1400" dirty="0">
                <a:solidFill>
                  <a:srgbClr val="232A33"/>
                </a:solidFill>
                <a:latin typeface="Aptos"/>
              </a:rPr>
              <a:t>- One-hot encoding for material.</a:t>
            </a:r>
          </a:p>
          <a:p>
            <a:r>
              <a:rPr lang="en-US" sz="1400" dirty="0">
                <a:solidFill>
                  <a:srgbClr val="232A33"/>
                </a:solidFill>
                <a:latin typeface="Aptos"/>
              </a:rPr>
              <a:t>- Adam optimizer.</a:t>
            </a:r>
          </a:p>
          <a:p>
            <a:r>
              <a:rPr lang="en-US" sz="1400" dirty="0">
                <a:solidFill>
                  <a:srgbClr val="232A33"/>
                </a:solidFill>
                <a:latin typeface="Aptos"/>
              </a:rPr>
              <a:t>- MSE, MAE, and MSLE loss functions.</a:t>
            </a:r>
          </a:p>
        </p:txBody>
      </p:sp>
      <p:sp>
        <p:nvSpPr>
          <p:cNvPr id="19" name="TextBox 18">
            <a:extLst>
              <a:ext uri="{FF2B5EF4-FFF2-40B4-BE49-F238E27FC236}">
                <a16:creationId xmlns:a16="http://schemas.microsoft.com/office/drawing/2014/main" id="{3C1B495A-0AA3-6967-B417-02692E6CC532}"/>
              </a:ext>
            </a:extLst>
          </p:cNvPr>
          <p:cNvSpPr txBox="1"/>
          <p:nvPr/>
        </p:nvSpPr>
        <p:spPr>
          <a:xfrm>
            <a:off x="903772" y="1653928"/>
            <a:ext cx="5896396" cy="276999"/>
          </a:xfrm>
          <a:prstGeom prst="rect">
            <a:avLst/>
          </a:prstGeom>
          <a:noFill/>
        </p:spPr>
        <p:txBody>
          <a:bodyPr wrap="square">
            <a:spAutoFit/>
          </a:bodyPr>
          <a:lstStyle/>
          <a:p>
            <a:pPr>
              <a:defRPr sz="1200" b="1">
                <a:solidFill>
                  <a:srgbClr val="276094"/>
                </a:solidFill>
                <a:latin typeface="Aptos"/>
              </a:defRPr>
            </a:pPr>
            <a:r>
              <a:rPr lang="en-US" dirty="0"/>
              <a:t>XAI for Manufacturing Cost Estimation and Machining Feature Visualization</a:t>
            </a:r>
          </a:p>
        </p:txBody>
      </p:sp>
    </p:spTree>
    <p:extLst>
      <p:ext uri="{BB962C8B-B14F-4D97-AF65-F5344CB8AC3E}">
        <p14:creationId xmlns:p14="http://schemas.microsoft.com/office/powerpoint/2010/main" val="637926815"/>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A5E0A-1F8E-903D-27BE-E8A892EF5F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B159B2-A375-DE04-2030-843BCB6084AB}"/>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B4225D0C-CFAD-12FA-B2C5-B1F9E311F44B}"/>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6A9DC3BC-2AC7-D102-3404-1015B09514E1}"/>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CAD82A9-F427-7BB3-939E-BD98F1919928}"/>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52C89D8B-DBE3-D74F-51D2-6346C1F3DAE6}"/>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E3FFE376-1D75-DCA6-30D2-0C345E1857F9}"/>
              </a:ext>
            </a:extLst>
          </p:cNvPr>
          <p:cNvSpPr/>
          <p:nvPr/>
        </p:nvSpPr>
        <p:spPr>
          <a:xfrm>
            <a:off x="685800" y="1417319"/>
            <a:ext cx="10853928" cy="4627407"/>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C4FE7D0-49BE-CDC8-6146-80CB75A028C7}"/>
              </a:ext>
            </a:extLst>
          </p:cNvPr>
          <p:cNvSpPr txBox="1"/>
          <p:nvPr/>
        </p:nvSpPr>
        <p:spPr>
          <a:xfrm>
            <a:off x="780205" y="2103545"/>
            <a:ext cx="5595882" cy="3323987"/>
          </a:xfrm>
          <a:prstGeom prst="rect">
            <a:avLst/>
          </a:prstGeom>
          <a:noFill/>
        </p:spPr>
        <p:txBody>
          <a:bodyPr wrap="square">
            <a:spAutoFit/>
          </a:bodyPr>
          <a:lstStyle/>
          <a:p>
            <a:r>
              <a:rPr lang="en-US" sz="1400" dirty="0">
                <a:solidFill>
                  <a:srgbClr val="232A33"/>
                </a:solidFill>
                <a:latin typeface="Aptos"/>
              </a:rPr>
              <a:t>This survey explains why AI systems need transparency, trust, accountability, and fairness. It discusses XAI methods such as LIME, SHAP, interpretable machine-learning models, attention mechanisms, layer-wise relevance propagation, and counterfactual explanations. It also highlights the tradeoff between accuracy and interpretability.</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Relevance to project: This gives general XAI theoretical support. Since procurement users need to trust model outputs before using them for supplier negotiation, explainability is a necessary part of the system.</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Review line: This paper supports the decision to include explainability in the procurement dashboard and not present only a predicted number.</a:t>
            </a:r>
          </a:p>
        </p:txBody>
      </p:sp>
      <p:sp>
        <p:nvSpPr>
          <p:cNvPr id="18" name="TextBox 17">
            <a:extLst>
              <a:ext uri="{FF2B5EF4-FFF2-40B4-BE49-F238E27FC236}">
                <a16:creationId xmlns:a16="http://schemas.microsoft.com/office/drawing/2014/main" id="{32A630C7-91A6-08BF-384B-3A50876ACF55}"/>
              </a:ext>
            </a:extLst>
          </p:cNvPr>
          <p:cNvSpPr txBox="1"/>
          <p:nvPr/>
        </p:nvSpPr>
        <p:spPr>
          <a:xfrm>
            <a:off x="6376087" y="1858966"/>
            <a:ext cx="5130113" cy="4185761"/>
          </a:xfrm>
          <a:prstGeom prst="rect">
            <a:avLst/>
          </a:prstGeom>
          <a:noFill/>
        </p:spPr>
        <p:txBody>
          <a:bodyPr wrap="square">
            <a:spAutoFit/>
          </a:bodyPr>
          <a:lstStyle/>
          <a:p>
            <a:r>
              <a:rPr lang="en-US" sz="1400" dirty="0">
                <a:solidFill>
                  <a:srgbClr val="232A33"/>
                </a:solidFill>
                <a:latin typeface="Aptos"/>
              </a:rPr>
              <a:t>Pipeline used:</a:t>
            </a:r>
          </a:p>
          <a:p>
            <a:r>
              <a:rPr lang="en-US" sz="1400" dirty="0">
                <a:solidFill>
                  <a:srgbClr val="232A33"/>
                </a:solidFill>
                <a:latin typeface="Aptos"/>
              </a:rPr>
              <a:t>1. Define the black-box problem in AI decision-making.</a:t>
            </a:r>
          </a:p>
          <a:p>
            <a:r>
              <a:rPr lang="en-US" sz="1400" dirty="0">
                <a:solidFill>
                  <a:srgbClr val="232A33"/>
                </a:solidFill>
                <a:latin typeface="Aptos"/>
              </a:rPr>
              <a:t>2. Categorize explainable AI methods.</a:t>
            </a:r>
          </a:p>
          <a:p>
            <a:r>
              <a:rPr lang="en-US" sz="1400" dirty="0">
                <a:solidFill>
                  <a:srgbClr val="232A33"/>
                </a:solidFill>
                <a:latin typeface="Aptos"/>
              </a:rPr>
              <a:t>3. Compare XAI methods by interpretability, complexity, and domain applicability.</a:t>
            </a:r>
          </a:p>
          <a:p>
            <a:r>
              <a:rPr lang="en-US" sz="1400" dirty="0">
                <a:solidFill>
                  <a:srgbClr val="232A33"/>
                </a:solidFill>
                <a:latin typeface="Aptos"/>
              </a:rPr>
              <a:t>4. Review real-world applications in healthcare, finance, criminal justice, and human-computer interaction.</a:t>
            </a:r>
          </a:p>
          <a:p>
            <a:r>
              <a:rPr lang="en-US" sz="1400" dirty="0">
                <a:solidFill>
                  <a:srgbClr val="232A33"/>
                </a:solidFill>
                <a:latin typeface="Aptos"/>
              </a:rPr>
              <a:t>5. Identify future challenges such as accuracy-interpretability tradeoff and ethical AI.</a:t>
            </a:r>
          </a:p>
          <a:p>
            <a:endParaRPr lang="en-US" sz="1400" dirty="0">
              <a:solidFill>
                <a:srgbClr val="232A33"/>
              </a:solidFill>
              <a:latin typeface="Aptos"/>
            </a:endParaRPr>
          </a:p>
          <a:p>
            <a:r>
              <a:rPr lang="en-US" sz="1400" dirty="0">
                <a:solidFill>
                  <a:srgbClr val="232A33"/>
                </a:solidFill>
                <a:latin typeface="Aptos"/>
              </a:rPr>
              <a:t>Algorithms/methods used:</a:t>
            </a:r>
          </a:p>
          <a:p>
            <a:r>
              <a:rPr lang="en-US" sz="1400" dirty="0">
                <a:solidFill>
                  <a:srgbClr val="232A33"/>
                </a:solidFill>
                <a:latin typeface="Aptos"/>
              </a:rPr>
              <a:t>- LIME.</a:t>
            </a:r>
          </a:p>
          <a:p>
            <a:r>
              <a:rPr lang="en-US" sz="1400" dirty="0">
                <a:solidFill>
                  <a:srgbClr val="232A33"/>
                </a:solidFill>
                <a:latin typeface="Aptos"/>
              </a:rPr>
              <a:t>- SHAP.</a:t>
            </a:r>
          </a:p>
          <a:p>
            <a:r>
              <a:rPr lang="en-US" sz="1400" dirty="0">
                <a:solidFill>
                  <a:srgbClr val="232A33"/>
                </a:solidFill>
                <a:latin typeface="Aptos"/>
              </a:rPr>
              <a:t>- Layer-wise Relevance Propagation.</a:t>
            </a:r>
          </a:p>
          <a:p>
            <a:r>
              <a:rPr lang="en-US" sz="1400" dirty="0">
                <a:solidFill>
                  <a:srgbClr val="232A33"/>
                </a:solidFill>
                <a:latin typeface="Aptos"/>
              </a:rPr>
              <a:t>- Attention mechanisms.</a:t>
            </a:r>
          </a:p>
          <a:p>
            <a:r>
              <a:rPr lang="en-US" sz="1400" dirty="0">
                <a:solidFill>
                  <a:srgbClr val="232A33"/>
                </a:solidFill>
                <a:latin typeface="Aptos"/>
              </a:rPr>
              <a:t>- Counterfactual explanations.</a:t>
            </a:r>
          </a:p>
          <a:p>
            <a:r>
              <a:rPr lang="en-US" sz="1400" dirty="0">
                <a:solidFill>
                  <a:srgbClr val="232A33"/>
                </a:solidFill>
                <a:latin typeface="Aptos"/>
              </a:rPr>
              <a:t>- Interpretable models such as decision trees, linear models, and rule-based systems.</a:t>
            </a:r>
          </a:p>
          <a:p>
            <a:r>
              <a:rPr lang="en-US" sz="1400" dirty="0">
                <a:solidFill>
                  <a:srgbClr val="232A33"/>
                </a:solidFill>
                <a:latin typeface="Aptos"/>
              </a:rPr>
              <a:t>- Feature-importance and surrogate-model explanations.</a:t>
            </a:r>
          </a:p>
        </p:txBody>
      </p:sp>
      <p:sp>
        <p:nvSpPr>
          <p:cNvPr id="19" name="TextBox 18">
            <a:extLst>
              <a:ext uri="{FF2B5EF4-FFF2-40B4-BE49-F238E27FC236}">
                <a16:creationId xmlns:a16="http://schemas.microsoft.com/office/drawing/2014/main" id="{349FE0BF-7219-1F7C-02E9-3788045BC971}"/>
              </a:ext>
            </a:extLst>
          </p:cNvPr>
          <p:cNvSpPr txBox="1"/>
          <p:nvPr/>
        </p:nvSpPr>
        <p:spPr>
          <a:xfrm>
            <a:off x="903772" y="1653928"/>
            <a:ext cx="7029266" cy="276999"/>
          </a:xfrm>
          <a:prstGeom prst="rect">
            <a:avLst/>
          </a:prstGeom>
          <a:noFill/>
        </p:spPr>
        <p:txBody>
          <a:bodyPr wrap="square">
            <a:spAutoFit/>
          </a:bodyPr>
          <a:lstStyle/>
          <a:p>
            <a:pPr>
              <a:defRPr sz="1200" b="1">
                <a:solidFill>
                  <a:srgbClr val="276094"/>
                </a:solidFill>
                <a:latin typeface="Aptos"/>
              </a:defRPr>
            </a:pPr>
            <a:r>
              <a:rPr lang="en-US" sz="1200" b="1" dirty="0"/>
              <a:t>Transparency in AI Decision Making: A Survey of Explainable AI Methods and Applications</a:t>
            </a:r>
            <a:endParaRPr lang="en-US" sz="1200" dirty="0"/>
          </a:p>
        </p:txBody>
      </p:sp>
    </p:spTree>
    <p:extLst>
      <p:ext uri="{BB962C8B-B14F-4D97-AF65-F5344CB8AC3E}">
        <p14:creationId xmlns:p14="http://schemas.microsoft.com/office/powerpoint/2010/main" val="3935173118"/>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F8C5E-C138-1D56-EDCF-9EC64A3749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B5356C-33F3-D7BD-610A-6E3BEE16D492}"/>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8E4DC658-81CD-739D-F25B-89A48F173923}"/>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C9AB779C-1EA9-1A9B-62D1-4EC2CE9C2F23}"/>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489C545-A17B-2430-1E0E-7CE1A18E6085}"/>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02F6D124-5DCC-AAC5-3609-92496860D64B}"/>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292DC0B4-9EAD-0343-75D7-3BD99C3A7E35}"/>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CA47FC0-01E9-EFEA-1619-1C622812D2AC}"/>
              </a:ext>
            </a:extLst>
          </p:cNvPr>
          <p:cNvSpPr txBox="1"/>
          <p:nvPr/>
        </p:nvSpPr>
        <p:spPr>
          <a:xfrm>
            <a:off x="850392" y="1809538"/>
            <a:ext cx="5896397" cy="3754874"/>
          </a:xfrm>
          <a:prstGeom prst="rect">
            <a:avLst/>
          </a:prstGeom>
          <a:noFill/>
        </p:spPr>
        <p:txBody>
          <a:bodyPr wrap="square">
            <a:spAutoFit/>
          </a:bodyPr>
          <a:lstStyle/>
          <a:p>
            <a:pPr>
              <a:defRPr sz="1400" b="0">
                <a:solidFill>
                  <a:srgbClr val="232A33"/>
                </a:solidFill>
                <a:latin typeface="Aptos"/>
              </a:defRPr>
            </a:pPr>
            <a:endParaRPr lang="en-US" dirty="0"/>
          </a:p>
          <a:p>
            <a:pPr>
              <a:defRPr sz="1400" b="0">
                <a:solidFill>
                  <a:srgbClr val="232A33"/>
                </a:solidFill>
                <a:latin typeface="Aptos"/>
              </a:defRPr>
            </a:pPr>
            <a:r>
              <a:rPr lang="en-US" dirty="0"/>
              <a:t>This thesis proposes a cost-estimation and cost-control architecture for manufacturing, with application in the sheet-metal domain. It defines modules such as cost models, cost determination, cost reports, risk analysis, data analysis, and data tuning. The work emphasizes that cost information should be integrated into engineering and product-development decisions, not treated only as post-production accounting data.</a:t>
            </a:r>
          </a:p>
          <a:p>
            <a:pPr>
              <a:defRPr sz="1400" b="0">
                <a:solidFill>
                  <a:srgbClr val="232A33"/>
                </a:solidFill>
                <a:latin typeface="Aptos"/>
              </a:defRPr>
            </a:pPr>
            <a:endParaRPr lang="en-US" dirty="0"/>
          </a:p>
          <a:p>
            <a:pPr>
              <a:defRPr sz="1400" b="0">
                <a:solidFill>
                  <a:srgbClr val="232A33"/>
                </a:solidFill>
                <a:latin typeface="Aptos"/>
              </a:defRPr>
            </a:pPr>
            <a:r>
              <a:rPr lang="en-US" dirty="0"/>
              <a:t>Relevance to project: This supports the Cost Digital Twin foundation. It justifies using structured engineering cost drivers such as material, geometry, process effort, overhead, and cost feedback loops for should-cost estimation.</a:t>
            </a:r>
          </a:p>
          <a:p>
            <a:pPr>
              <a:defRPr sz="1400" b="0">
                <a:solidFill>
                  <a:srgbClr val="232A33"/>
                </a:solidFill>
                <a:latin typeface="Aptos"/>
              </a:defRPr>
            </a:pPr>
            <a:endParaRPr lang="en-US" dirty="0"/>
          </a:p>
          <a:p>
            <a:pPr>
              <a:defRPr sz="1400" b="0">
                <a:solidFill>
                  <a:srgbClr val="232A33"/>
                </a:solidFill>
                <a:latin typeface="Aptos"/>
              </a:defRPr>
            </a:pPr>
            <a:r>
              <a:rPr lang="en-US" dirty="0"/>
              <a:t>Review line: This paper supports the need for a structured cost model that can generate explainable cost information during procurement and engineering decision-making.</a:t>
            </a:r>
          </a:p>
        </p:txBody>
      </p:sp>
      <p:sp>
        <p:nvSpPr>
          <p:cNvPr id="18" name="TextBox 17">
            <a:extLst>
              <a:ext uri="{FF2B5EF4-FFF2-40B4-BE49-F238E27FC236}">
                <a16:creationId xmlns:a16="http://schemas.microsoft.com/office/drawing/2014/main" id="{66910DC4-9BDC-8207-C911-7F673F911C7C}"/>
              </a:ext>
            </a:extLst>
          </p:cNvPr>
          <p:cNvSpPr txBox="1"/>
          <p:nvPr/>
        </p:nvSpPr>
        <p:spPr>
          <a:xfrm>
            <a:off x="6837238" y="2200413"/>
            <a:ext cx="4628347" cy="3539430"/>
          </a:xfrm>
          <a:prstGeom prst="rect">
            <a:avLst/>
          </a:prstGeom>
          <a:noFill/>
        </p:spPr>
        <p:txBody>
          <a:bodyPr wrap="square">
            <a:spAutoFit/>
          </a:bodyPr>
          <a:lstStyle/>
          <a:p>
            <a:pPr>
              <a:defRPr sz="1400" b="0">
                <a:solidFill>
                  <a:srgbClr val="232A33"/>
                </a:solidFill>
                <a:latin typeface="Aptos"/>
              </a:defRPr>
            </a:pPr>
            <a:r>
              <a:rPr lang="en-US" dirty="0"/>
              <a:t>Pipeline used:</a:t>
            </a:r>
          </a:p>
          <a:p>
            <a:pPr>
              <a:defRPr sz="1400" b="0">
                <a:solidFill>
                  <a:srgbClr val="232A33"/>
                </a:solidFill>
                <a:latin typeface="Aptos"/>
              </a:defRPr>
            </a:pPr>
            <a:r>
              <a:rPr lang="en-US" dirty="0"/>
              <a:t>1. Review manufacturing cost-control needs.</a:t>
            </a:r>
          </a:p>
          <a:p>
            <a:pPr>
              <a:defRPr sz="1400" b="0">
                <a:solidFill>
                  <a:srgbClr val="232A33"/>
                </a:solidFill>
                <a:latin typeface="Aptos"/>
              </a:defRPr>
            </a:pPr>
            <a:r>
              <a:rPr lang="en-US" dirty="0"/>
              <a:t>2. Build a generic cost-estimation architecture around manufacturing information.</a:t>
            </a:r>
          </a:p>
          <a:p>
            <a:pPr>
              <a:defRPr sz="1400" b="0">
                <a:solidFill>
                  <a:srgbClr val="232A33"/>
                </a:solidFill>
                <a:latin typeface="Aptos"/>
              </a:defRPr>
            </a:pPr>
            <a:r>
              <a:rPr lang="en-US" dirty="0"/>
              <a:t>3. Define cost models and cost structures.</a:t>
            </a:r>
          </a:p>
          <a:p>
            <a:pPr>
              <a:defRPr sz="1400" b="0">
                <a:solidFill>
                  <a:srgbClr val="232A33"/>
                </a:solidFill>
                <a:latin typeface="Aptos"/>
              </a:defRPr>
            </a:pPr>
            <a:r>
              <a:rPr lang="en-US" dirty="0"/>
              <a:t>4. Use cost-determination and reporting modules.</a:t>
            </a:r>
          </a:p>
          <a:p>
            <a:pPr>
              <a:defRPr sz="1400" b="0">
                <a:solidFill>
                  <a:srgbClr val="232A33"/>
                </a:solidFill>
                <a:latin typeface="Aptos"/>
              </a:defRPr>
            </a:pPr>
            <a:r>
              <a:rPr lang="en-US" dirty="0"/>
              <a:t>5. Demonstrate the prototype in the sheet-metal domain.</a:t>
            </a:r>
          </a:p>
          <a:p>
            <a:pPr>
              <a:defRPr sz="1400" b="0">
                <a:solidFill>
                  <a:srgbClr val="232A33"/>
                </a:solidFill>
                <a:latin typeface="Aptos"/>
              </a:defRPr>
            </a:pPr>
            <a:endParaRPr lang="en-US" dirty="0"/>
          </a:p>
          <a:p>
            <a:pPr>
              <a:defRPr sz="1400" b="0">
                <a:solidFill>
                  <a:srgbClr val="232A33"/>
                </a:solidFill>
                <a:latin typeface="Aptos"/>
              </a:defRPr>
            </a:pPr>
            <a:r>
              <a:rPr lang="en-US" dirty="0"/>
              <a:t>Algorithms/methods used:</a:t>
            </a:r>
          </a:p>
          <a:p>
            <a:pPr>
              <a:defRPr sz="1400" b="0">
                <a:solidFill>
                  <a:srgbClr val="232A33"/>
                </a:solidFill>
                <a:latin typeface="Aptos"/>
              </a:defRPr>
            </a:pPr>
            <a:endParaRPr lang="en-US" dirty="0"/>
          </a:p>
          <a:p>
            <a:pPr>
              <a:defRPr sz="1400" b="0">
                <a:solidFill>
                  <a:srgbClr val="232A33"/>
                </a:solidFill>
                <a:latin typeface="Aptos"/>
              </a:defRPr>
            </a:pPr>
            <a:r>
              <a:rPr lang="en-US" dirty="0"/>
              <a:t>- Generative cost estimation.</a:t>
            </a:r>
          </a:p>
          <a:p>
            <a:pPr>
              <a:defRPr sz="1400" b="0">
                <a:solidFill>
                  <a:srgbClr val="232A33"/>
                </a:solidFill>
                <a:latin typeface="Aptos"/>
              </a:defRPr>
            </a:pPr>
            <a:r>
              <a:rPr lang="en-US" dirty="0"/>
              <a:t>- Variant-based cost estimation.</a:t>
            </a:r>
          </a:p>
          <a:p>
            <a:pPr>
              <a:defRPr sz="1400" b="0">
                <a:solidFill>
                  <a:srgbClr val="232A33"/>
                </a:solidFill>
                <a:latin typeface="Aptos"/>
              </a:defRPr>
            </a:pPr>
            <a:r>
              <a:rPr lang="en-US" dirty="0"/>
              <a:t>- Direct costing.</a:t>
            </a:r>
          </a:p>
          <a:p>
            <a:pPr>
              <a:defRPr sz="1400" b="0">
                <a:solidFill>
                  <a:srgbClr val="232A33"/>
                </a:solidFill>
                <a:latin typeface="Aptos"/>
              </a:defRPr>
            </a:pPr>
            <a:r>
              <a:rPr lang="en-US" dirty="0"/>
              <a:t>- Activity-based costing.</a:t>
            </a:r>
          </a:p>
          <a:p>
            <a:pPr>
              <a:defRPr sz="1400" b="0">
                <a:solidFill>
                  <a:srgbClr val="232A33"/>
                </a:solidFill>
                <a:latin typeface="Aptos"/>
              </a:defRPr>
            </a:pPr>
            <a:r>
              <a:rPr lang="en-US" dirty="0"/>
              <a:t>- Cost structures and cost-control feedback loops.</a:t>
            </a:r>
          </a:p>
          <a:p>
            <a:pPr>
              <a:defRPr sz="1400" b="0">
                <a:solidFill>
                  <a:srgbClr val="232A33"/>
                </a:solidFill>
                <a:latin typeface="Aptos"/>
              </a:defRPr>
            </a:pPr>
            <a:r>
              <a:rPr lang="en-US" dirty="0"/>
              <a:t>- Risk analysis, data analysis, and data tuning modules.</a:t>
            </a:r>
          </a:p>
        </p:txBody>
      </p:sp>
      <p:sp>
        <p:nvSpPr>
          <p:cNvPr id="8" name="TextBox 7">
            <a:extLst>
              <a:ext uri="{FF2B5EF4-FFF2-40B4-BE49-F238E27FC236}">
                <a16:creationId xmlns:a16="http://schemas.microsoft.com/office/drawing/2014/main" id="{BAA75667-22FC-56F2-7BFC-E79807F45900}"/>
              </a:ext>
            </a:extLst>
          </p:cNvPr>
          <p:cNvSpPr txBox="1"/>
          <p:nvPr/>
        </p:nvSpPr>
        <p:spPr>
          <a:xfrm>
            <a:off x="1014985" y="1592143"/>
            <a:ext cx="5896396" cy="276999"/>
          </a:xfrm>
          <a:prstGeom prst="rect">
            <a:avLst/>
          </a:prstGeom>
          <a:noFill/>
        </p:spPr>
        <p:txBody>
          <a:bodyPr wrap="square">
            <a:spAutoFit/>
          </a:bodyPr>
          <a:lstStyle/>
          <a:p>
            <a:pPr>
              <a:defRPr sz="1200" b="1">
                <a:solidFill>
                  <a:srgbClr val="276094"/>
                </a:solidFill>
                <a:latin typeface="Aptos"/>
              </a:defRPr>
            </a:pPr>
            <a:r>
              <a:rPr lang="en-US" dirty="0"/>
              <a:t>Costing Support and Cost Control in Manufacturing</a:t>
            </a:r>
          </a:p>
        </p:txBody>
      </p:sp>
    </p:spTree>
    <p:extLst>
      <p:ext uri="{BB962C8B-B14F-4D97-AF65-F5344CB8AC3E}">
        <p14:creationId xmlns:p14="http://schemas.microsoft.com/office/powerpoint/2010/main" val="3627266409"/>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Research Gap</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09</a:t>
            </a:r>
          </a:p>
        </p:txBody>
      </p:sp>
      <p:sp>
        <p:nvSpPr>
          <p:cNvPr id="7" name="Rounded Rectangle 6"/>
          <p:cNvSpPr/>
          <p:nvPr/>
        </p:nvSpPr>
        <p:spPr>
          <a:xfrm>
            <a:off x="68580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095461"/>
            <a:ext cx="4928616" cy="256032"/>
          </a:xfrm>
          <a:prstGeom prst="rect">
            <a:avLst/>
          </a:prstGeom>
          <a:noFill/>
        </p:spPr>
        <p:txBody>
          <a:bodyPr wrap="square">
            <a:spAutoFit/>
          </a:bodyPr>
          <a:lstStyle/>
          <a:p>
            <a:pPr>
              <a:defRPr sz="1200" b="1">
                <a:solidFill>
                  <a:srgbClr val="276094"/>
                </a:solidFill>
                <a:latin typeface="Aptos"/>
              </a:defRPr>
            </a:pPr>
            <a:r>
              <a:rPr dirty="0"/>
              <a:t>Sharp gap statement</a:t>
            </a:r>
          </a:p>
        </p:txBody>
      </p:sp>
      <p:sp>
        <p:nvSpPr>
          <p:cNvPr id="9" name="TextBox 8"/>
          <p:cNvSpPr txBox="1"/>
          <p:nvPr/>
        </p:nvSpPr>
        <p:spPr>
          <a:xfrm>
            <a:off x="850392" y="2397213"/>
            <a:ext cx="4928616" cy="1384995"/>
          </a:xfrm>
          <a:prstGeom prst="rect">
            <a:avLst/>
          </a:prstGeom>
          <a:noFill/>
        </p:spPr>
        <p:txBody>
          <a:bodyPr wrap="square">
            <a:spAutoFit/>
          </a:bodyPr>
          <a:lstStyle/>
          <a:p>
            <a:pPr>
              <a:defRPr sz="1400" b="0">
                <a:solidFill>
                  <a:srgbClr val="232A33"/>
                </a:solidFill>
                <a:latin typeface="Aptos"/>
              </a:defRPr>
            </a:pPr>
            <a:r>
              <a:rPr dirty="0"/>
              <a:t>• Existing work supports cost estimation, document extraction, and explainable ML separately.</a:t>
            </a:r>
            <a:endParaRPr lang="en-US" dirty="0"/>
          </a:p>
          <a:p>
            <a:pPr>
              <a:defRPr sz="1400" b="0">
                <a:solidFill>
                  <a:srgbClr val="232A33"/>
                </a:solidFill>
                <a:latin typeface="Aptos"/>
              </a:defRPr>
            </a:pPr>
            <a:br>
              <a:rPr dirty="0"/>
            </a:br>
            <a:r>
              <a:rPr dirty="0"/>
              <a:t>• There is limited end-to-end support for converting procurement/technical inputs into a traceable should-cost template with explainable fair-price intelligence</a:t>
            </a:r>
            <a:r>
              <a:rPr lang="en-US" dirty="0"/>
              <a:t>.</a:t>
            </a:r>
            <a:endParaRPr dirty="0"/>
          </a:p>
        </p:txBody>
      </p:sp>
      <p:sp>
        <p:nvSpPr>
          <p:cNvPr id="10" name="Rounded Rectangle 9"/>
          <p:cNvSpPr/>
          <p:nvPr/>
        </p:nvSpPr>
        <p:spPr>
          <a:xfrm>
            <a:off x="626364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1" y="2095461"/>
            <a:ext cx="4928616" cy="256032"/>
          </a:xfrm>
          <a:prstGeom prst="rect">
            <a:avLst/>
          </a:prstGeom>
          <a:noFill/>
        </p:spPr>
        <p:txBody>
          <a:bodyPr wrap="square">
            <a:spAutoFit/>
          </a:bodyPr>
          <a:lstStyle/>
          <a:p>
            <a:pPr>
              <a:defRPr sz="1200" b="1">
                <a:solidFill>
                  <a:srgbClr val="107C79"/>
                </a:solidFill>
                <a:latin typeface="Aptos"/>
              </a:defRPr>
            </a:pPr>
            <a:r>
              <a:t>Project contribution</a:t>
            </a:r>
          </a:p>
        </p:txBody>
      </p:sp>
      <p:sp>
        <p:nvSpPr>
          <p:cNvPr id="12" name="TextBox 11"/>
          <p:cNvSpPr txBox="1"/>
          <p:nvPr/>
        </p:nvSpPr>
        <p:spPr>
          <a:xfrm>
            <a:off x="6428231" y="2397213"/>
            <a:ext cx="4928616" cy="738664"/>
          </a:xfrm>
          <a:prstGeom prst="rect">
            <a:avLst/>
          </a:prstGeom>
          <a:noFill/>
        </p:spPr>
        <p:txBody>
          <a:bodyPr wrap="square">
            <a:spAutoFit/>
          </a:bodyPr>
          <a:lstStyle/>
          <a:p>
            <a:pPr>
              <a:defRPr sz="1400" b="0">
                <a:solidFill>
                  <a:srgbClr val="232A33"/>
                </a:solidFill>
                <a:latin typeface="Aptos"/>
              </a:defRPr>
            </a:pPr>
            <a:r>
              <a:rPr dirty="0"/>
              <a:t>• A domain-specific pipeline that connects data cleaning, cost modeling, ML prediction, explanation, and review-ready output</a:t>
            </a:r>
            <a:r>
              <a:rPr lang="en-US" dirty="0"/>
              <a: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Proposed Pipeline</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10</a:t>
            </a:r>
          </a:p>
        </p:txBody>
      </p:sp>
      <p:sp>
        <p:nvSpPr>
          <p:cNvPr id="7" name="Rounded Rectangle 6"/>
          <p:cNvSpPr/>
          <p:nvPr/>
        </p:nvSpPr>
        <p:spPr>
          <a:xfrm>
            <a:off x="59436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2231136"/>
            <a:ext cx="1261872" cy="201168"/>
          </a:xfrm>
          <a:prstGeom prst="rect">
            <a:avLst/>
          </a:prstGeom>
          <a:noFill/>
        </p:spPr>
        <p:txBody>
          <a:bodyPr wrap="square">
            <a:spAutoFit/>
          </a:bodyPr>
          <a:lstStyle/>
          <a:p>
            <a:pPr algn="ctr">
              <a:defRPr sz="1200" b="1">
                <a:solidFill>
                  <a:srgbClr val="276094"/>
                </a:solidFill>
                <a:latin typeface="Aptos"/>
              </a:defRPr>
            </a:pPr>
            <a:r>
              <a:t>Input</a:t>
            </a:r>
          </a:p>
        </p:txBody>
      </p:sp>
      <p:sp>
        <p:nvSpPr>
          <p:cNvPr id="9" name="TextBox 8"/>
          <p:cNvSpPr txBox="1"/>
          <p:nvPr/>
        </p:nvSpPr>
        <p:spPr>
          <a:xfrm>
            <a:off x="2029968"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10" name="Rounded Rectangle 9"/>
          <p:cNvSpPr/>
          <p:nvPr/>
        </p:nvSpPr>
        <p:spPr>
          <a:xfrm>
            <a:off x="2468879"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42032" y="2231136"/>
            <a:ext cx="1261872" cy="201168"/>
          </a:xfrm>
          <a:prstGeom prst="rect">
            <a:avLst/>
          </a:prstGeom>
          <a:noFill/>
        </p:spPr>
        <p:txBody>
          <a:bodyPr wrap="square">
            <a:spAutoFit/>
          </a:bodyPr>
          <a:lstStyle/>
          <a:p>
            <a:pPr algn="ctr">
              <a:defRPr sz="1200" b="1">
                <a:solidFill>
                  <a:srgbClr val="276094"/>
                </a:solidFill>
                <a:latin typeface="Aptos"/>
              </a:defRPr>
            </a:pPr>
            <a:r>
              <a:t>Clean</a:t>
            </a:r>
          </a:p>
        </p:txBody>
      </p:sp>
      <p:sp>
        <p:nvSpPr>
          <p:cNvPr id="12" name="TextBox 11"/>
          <p:cNvSpPr txBox="1"/>
          <p:nvPr/>
        </p:nvSpPr>
        <p:spPr>
          <a:xfrm>
            <a:off x="3904487"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13" name="Rounded Rectangle 12"/>
          <p:cNvSpPr/>
          <p:nvPr/>
        </p:nvSpPr>
        <p:spPr>
          <a:xfrm>
            <a:off x="434340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16552" y="2231136"/>
            <a:ext cx="1261872" cy="201168"/>
          </a:xfrm>
          <a:prstGeom prst="rect">
            <a:avLst/>
          </a:prstGeom>
          <a:noFill/>
        </p:spPr>
        <p:txBody>
          <a:bodyPr wrap="square">
            <a:spAutoFit/>
          </a:bodyPr>
          <a:lstStyle/>
          <a:p>
            <a:pPr algn="ctr">
              <a:defRPr sz="1200" b="1">
                <a:solidFill>
                  <a:srgbClr val="276094"/>
                </a:solidFill>
                <a:latin typeface="Aptos"/>
              </a:defRPr>
            </a:pPr>
            <a:r>
              <a:t>Cost Twin</a:t>
            </a:r>
          </a:p>
        </p:txBody>
      </p:sp>
      <p:sp>
        <p:nvSpPr>
          <p:cNvPr id="15" name="TextBox 14"/>
          <p:cNvSpPr txBox="1"/>
          <p:nvPr/>
        </p:nvSpPr>
        <p:spPr>
          <a:xfrm>
            <a:off x="5779008"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16" name="Rounded Rectangle 15"/>
          <p:cNvSpPr/>
          <p:nvPr/>
        </p:nvSpPr>
        <p:spPr>
          <a:xfrm>
            <a:off x="621792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91072" y="2231136"/>
            <a:ext cx="1261872" cy="201168"/>
          </a:xfrm>
          <a:prstGeom prst="rect">
            <a:avLst/>
          </a:prstGeom>
          <a:noFill/>
        </p:spPr>
        <p:txBody>
          <a:bodyPr wrap="square">
            <a:spAutoFit/>
          </a:bodyPr>
          <a:lstStyle/>
          <a:p>
            <a:pPr algn="ctr">
              <a:defRPr sz="1200" b="1">
                <a:solidFill>
                  <a:srgbClr val="276094"/>
                </a:solidFill>
                <a:latin typeface="Aptos"/>
              </a:defRPr>
            </a:pPr>
            <a:r>
              <a:t>Template</a:t>
            </a:r>
          </a:p>
        </p:txBody>
      </p:sp>
      <p:sp>
        <p:nvSpPr>
          <p:cNvPr id="18" name="TextBox 17"/>
          <p:cNvSpPr txBox="1"/>
          <p:nvPr/>
        </p:nvSpPr>
        <p:spPr>
          <a:xfrm>
            <a:off x="7653527"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19" name="Rounded Rectangle 18"/>
          <p:cNvSpPr/>
          <p:nvPr/>
        </p:nvSpPr>
        <p:spPr>
          <a:xfrm>
            <a:off x="809244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65592" y="2231136"/>
            <a:ext cx="1261872" cy="201168"/>
          </a:xfrm>
          <a:prstGeom prst="rect">
            <a:avLst/>
          </a:prstGeom>
          <a:noFill/>
        </p:spPr>
        <p:txBody>
          <a:bodyPr wrap="square">
            <a:spAutoFit/>
          </a:bodyPr>
          <a:lstStyle/>
          <a:p>
            <a:pPr algn="ctr">
              <a:defRPr sz="1200" b="1">
                <a:solidFill>
                  <a:srgbClr val="276094"/>
                </a:solidFill>
                <a:latin typeface="Aptos"/>
              </a:defRPr>
            </a:pPr>
            <a:r>
              <a:t>ML/XAI</a:t>
            </a:r>
          </a:p>
        </p:txBody>
      </p:sp>
      <p:sp>
        <p:nvSpPr>
          <p:cNvPr id="21" name="TextBox 20"/>
          <p:cNvSpPr txBox="1"/>
          <p:nvPr/>
        </p:nvSpPr>
        <p:spPr>
          <a:xfrm>
            <a:off x="9528048"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22" name="Rounded Rectangle 21"/>
          <p:cNvSpPr/>
          <p:nvPr/>
        </p:nvSpPr>
        <p:spPr>
          <a:xfrm>
            <a:off x="996696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40112" y="2231136"/>
            <a:ext cx="1261872" cy="201168"/>
          </a:xfrm>
          <a:prstGeom prst="rect">
            <a:avLst/>
          </a:prstGeom>
          <a:noFill/>
        </p:spPr>
        <p:txBody>
          <a:bodyPr wrap="square">
            <a:spAutoFit/>
          </a:bodyPr>
          <a:lstStyle/>
          <a:p>
            <a:pPr algn="ctr">
              <a:defRPr sz="1200" b="1">
                <a:solidFill>
                  <a:srgbClr val="276094"/>
                </a:solidFill>
                <a:latin typeface="Aptos"/>
              </a:defRPr>
            </a:pPr>
            <a:r>
              <a:t>Decision</a:t>
            </a:r>
          </a:p>
        </p:txBody>
      </p:sp>
      <p:sp>
        <p:nvSpPr>
          <p:cNvPr id="24" name="Rounded Rectangle 23"/>
          <p:cNvSpPr/>
          <p:nvPr/>
        </p:nvSpPr>
        <p:spPr>
          <a:xfrm>
            <a:off x="685800" y="3246120"/>
            <a:ext cx="5257800" cy="246888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0392" y="3783359"/>
            <a:ext cx="4928616" cy="256032"/>
          </a:xfrm>
          <a:prstGeom prst="rect">
            <a:avLst/>
          </a:prstGeom>
          <a:noFill/>
        </p:spPr>
        <p:txBody>
          <a:bodyPr wrap="square">
            <a:spAutoFit/>
          </a:bodyPr>
          <a:lstStyle/>
          <a:p>
            <a:pPr>
              <a:defRPr sz="1200" b="1">
                <a:solidFill>
                  <a:srgbClr val="276094"/>
                </a:solidFill>
                <a:latin typeface="Aptos"/>
              </a:defRPr>
            </a:pPr>
            <a:r>
              <a:t>Flow</a:t>
            </a:r>
          </a:p>
        </p:txBody>
      </p:sp>
      <p:sp>
        <p:nvSpPr>
          <p:cNvPr id="26" name="TextBox 25"/>
          <p:cNvSpPr txBox="1"/>
          <p:nvPr/>
        </p:nvSpPr>
        <p:spPr>
          <a:xfrm>
            <a:off x="850392" y="4085111"/>
            <a:ext cx="4928616" cy="954107"/>
          </a:xfrm>
          <a:prstGeom prst="rect">
            <a:avLst/>
          </a:prstGeom>
          <a:noFill/>
        </p:spPr>
        <p:txBody>
          <a:bodyPr wrap="square">
            <a:spAutoFit/>
          </a:bodyPr>
          <a:lstStyle/>
          <a:p>
            <a:pPr>
              <a:defRPr sz="1400" b="0">
                <a:solidFill>
                  <a:srgbClr val="232A33"/>
                </a:solidFill>
                <a:latin typeface="Aptos"/>
              </a:defRPr>
            </a:pPr>
            <a:r>
              <a:rPr dirty="0"/>
              <a:t>• Raw ERP / technical inputs -&gt; cleaning and normalization -&gt; engineering cost drivers -&gt; should-cost template population -&gt; ML fair-price prediction -&gt; explainability and anomaly detection -&gt; dashboard/output</a:t>
            </a:r>
            <a:r>
              <a:rPr lang="en-US" dirty="0"/>
              <a:t>.</a:t>
            </a:r>
            <a:endParaRPr dirty="0"/>
          </a:p>
        </p:txBody>
      </p:sp>
      <p:sp>
        <p:nvSpPr>
          <p:cNvPr id="27" name="Rounded Rectangle 26"/>
          <p:cNvSpPr/>
          <p:nvPr/>
        </p:nvSpPr>
        <p:spPr>
          <a:xfrm>
            <a:off x="6263640" y="3246120"/>
            <a:ext cx="5257800" cy="246888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28231" y="3783359"/>
            <a:ext cx="4928616" cy="256032"/>
          </a:xfrm>
          <a:prstGeom prst="rect">
            <a:avLst/>
          </a:prstGeom>
          <a:noFill/>
        </p:spPr>
        <p:txBody>
          <a:bodyPr wrap="square">
            <a:spAutoFit/>
          </a:bodyPr>
          <a:lstStyle/>
          <a:p>
            <a:pPr>
              <a:defRPr sz="1200" b="1">
                <a:solidFill>
                  <a:srgbClr val="107C79"/>
                </a:solidFill>
                <a:latin typeface="Aptos"/>
              </a:defRPr>
            </a:pPr>
            <a:r>
              <a:t>Key principle</a:t>
            </a:r>
          </a:p>
        </p:txBody>
      </p:sp>
      <p:sp>
        <p:nvSpPr>
          <p:cNvPr id="29" name="TextBox 28"/>
          <p:cNvSpPr txBox="1"/>
          <p:nvPr/>
        </p:nvSpPr>
        <p:spPr>
          <a:xfrm>
            <a:off x="6428231" y="4085111"/>
            <a:ext cx="4928616" cy="738664"/>
          </a:xfrm>
          <a:prstGeom prst="rect">
            <a:avLst/>
          </a:prstGeom>
          <a:noFill/>
        </p:spPr>
        <p:txBody>
          <a:bodyPr wrap="square">
            <a:spAutoFit/>
          </a:bodyPr>
          <a:lstStyle/>
          <a:p>
            <a:pPr>
              <a:defRPr sz="1400" b="0">
                <a:solidFill>
                  <a:srgbClr val="232A33"/>
                </a:solidFill>
                <a:latin typeface="Aptos"/>
              </a:defRPr>
            </a:pPr>
            <a:r>
              <a:rPr dirty="0"/>
              <a:t>• Raw ERP price is noisy evidence, not direct ground truth. The cost model anchors the ML layer so it does not simply learn historical inefficiency</a:t>
            </a:r>
            <a:r>
              <a:rPr lang="en-US" dirty="0"/>
              <a: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System Architecture</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11</a:t>
            </a:r>
          </a:p>
        </p:txBody>
      </p:sp>
      <p:sp>
        <p:nvSpPr>
          <p:cNvPr id="7" name="Rounded Rectangle 6"/>
          <p:cNvSpPr/>
          <p:nvPr/>
        </p:nvSpPr>
        <p:spPr>
          <a:xfrm>
            <a:off x="685800" y="1828800"/>
            <a:ext cx="1828800" cy="1463040"/>
          </a:xfrm>
          <a:prstGeom prst="roundRect">
            <a:avLst/>
          </a:prstGeom>
          <a:solidFill>
            <a:srgbClr val="276094"/>
          </a:solidFill>
          <a:ln w="8890">
            <a:solidFill>
              <a:srgbClr val="2760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993392"/>
            <a:ext cx="1554480" cy="228600"/>
          </a:xfrm>
          <a:prstGeom prst="rect">
            <a:avLst/>
          </a:prstGeom>
          <a:noFill/>
        </p:spPr>
        <p:txBody>
          <a:bodyPr wrap="square">
            <a:spAutoFit/>
          </a:bodyPr>
          <a:lstStyle/>
          <a:p>
            <a:pPr algn="ctr">
              <a:defRPr sz="1300" b="1">
                <a:solidFill>
                  <a:srgbClr val="FFFFFF"/>
                </a:solidFill>
                <a:latin typeface="Aptos"/>
              </a:defRPr>
            </a:pPr>
            <a:r>
              <a:t>Data</a:t>
            </a:r>
          </a:p>
        </p:txBody>
      </p:sp>
      <p:sp>
        <p:nvSpPr>
          <p:cNvPr id="9" name="TextBox 8"/>
          <p:cNvSpPr txBox="1"/>
          <p:nvPr/>
        </p:nvSpPr>
        <p:spPr>
          <a:xfrm>
            <a:off x="841248" y="2331720"/>
            <a:ext cx="1508760" cy="713232"/>
          </a:xfrm>
          <a:prstGeom prst="rect">
            <a:avLst/>
          </a:prstGeom>
          <a:noFill/>
        </p:spPr>
        <p:txBody>
          <a:bodyPr wrap="square">
            <a:spAutoFit/>
          </a:bodyPr>
          <a:lstStyle/>
          <a:p>
            <a:pPr algn="ctr">
              <a:defRPr sz="1050" b="0">
                <a:solidFill>
                  <a:srgbClr val="FFFFFF"/>
                </a:solidFill>
                <a:latin typeface="Aptos"/>
              </a:defRPr>
            </a:pPr>
            <a:r>
              <a:t>ERP cleaning</a:t>
            </a:r>
            <a:br/>
            <a:r>
              <a:t>anonymization</a:t>
            </a:r>
            <a:br/>
            <a:r>
              <a:t>currency normalization</a:t>
            </a:r>
          </a:p>
        </p:txBody>
      </p:sp>
      <p:sp>
        <p:nvSpPr>
          <p:cNvPr id="10" name="Rounded Rectangle 9"/>
          <p:cNvSpPr/>
          <p:nvPr/>
        </p:nvSpPr>
        <p:spPr>
          <a:xfrm>
            <a:off x="2926080" y="1828800"/>
            <a:ext cx="1828800" cy="1463040"/>
          </a:xfrm>
          <a:prstGeom prst="roundRect">
            <a:avLst/>
          </a:prstGeom>
          <a:solidFill>
            <a:srgbClr val="107C79"/>
          </a:solidFill>
          <a:ln w="8890">
            <a:solidFill>
              <a:srgbClr val="107C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63240" y="1993392"/>
            <a:ext cx="1554480" cy="228600"/>
          </a:xfrm>
          <a:prstGeom prst="rect">
            <a:avLst/>
          </a:prstGeom>
          <a:noFill/>
        </p:spPr>
        <p:txBody>
          <a:bodyPr wrap="square">
            <a:spAutoFit/>
          </a:bodyPr>
          <a:lstStyle/>
          <a:p>
            <a:pPr algn="ctr">
              <a:defRPr sz="1300" b="1">
                <a:solidFill>
                  <a:srgbClr val="FFFFFF"/>
                </a:solidFill>
                <a:latin typeface="Aptos"/>
              </a:defRPr>
            </a:pPr>
            <a:r>
              <a:t>Engineering</a:t>
            </a:r>
          </a:p>
        </p:txBody>
      </p:sp>
      <p:sp>
        <p:nvSpPr>
          <p:cNvPr id="12" name="TextBox 11"/>
          <p:cNvSpPr txBox="1"/>
          <p:nvPr/>
        </p:nvSpPr>
        <p:spPr>
          <a:xfrm>
            <a:off x="3081528" y="2331720"/>
            <a:ext cx="1508760" cy="713232"/>
          </a:xfrm>
          <a:prstGeom prst="rect">
            <a:avLst/>
          </a:prstGeom>
          <a:noFill/>
        </p:spPr>
        <p:txBody>
          <a:bodyPr wrap="square">
            <a:spAutoFit/>
          </a:bodyPr>
          <a:lstStyle/>
          <a:p>
            <a:pPr algn="ctr">
              <a:defRPr sz="1050" b="0">
                <a:solidFill>
                  <a:srgbClr val="FFFFFF"/>
                </a:solidFill>
                <a:latin typeface="Aptos"/>
              </a:defRPr>
            </a:pPr>
            <a:r>
              <a:t>material, weight</a:t>
            </a:r>
            <a:br/>
            <a:r>
              <a:t>thickness, bends</a:t>
            </a:r>
            <a:br/>
            <a:r>
              <a:t>holes, finish, volume</a:t>
            </a:r>
          </a:p>
        </p:txBody>
      </p:sp>
      <p:sp>
        <p:nvSpPr>
          <p:cNvPr id="13" name="Rounded Rectangle 12"/>
          <p:cNvSpPr/>
          <p:nvPr/>
        </p:nvSpPr>
        <p:spPr>
          <a:xfrm>
            <a:off x="5166360" y="1828800"/>
            <a:ext cx="1828800" cy="1463040"/>
          </a:xfrm>
          <a:prstGeom prst="roundRect">
            <a:avLst/>
          </a:prstGeom>
          <a:solidFill>
            <a:srgbClr val="D39327"/>
          </a:solidFill>
          <a:ln w="8890">
            <a:solidFill>
              <a:srgbClr val="D393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3520" y="1993392"/>
            <a:ext cx="1554480" cy="228600"/>
          </a:xfrm>
          <a:prstGeom prst="rect">
            <a:avLst/>
          </a:prstGeom>
          <a:noFill/>
        </p:spPr>
        <p:txBody>
          <a:bodyPr wrap="square">
            <a:spAutoFit/>
          </a:bodyPr>
          <a:lstStyle/>
          <a:p>
            <a:pPr algn="ctr">
              <a:defRPr sz="1300" b="1">
                <a:solidFill>
                  <a:srgbClr val="FFFFFF"/>
                </a:solidFill>
                <a:latin typeface="Aptos"/>
              </a:defRPr>
            </a:pPr>
            <a:r>
              <a:t>Cost</a:t>
            </a:r>
          </a:p>
        </p:txBody>
      </p:sp>
      <p:sp>
        <p:nvSpPr>
          <p:cNvPr id="15" name="TextBox 14"/>
          <p:cNvSpPr txBox="1"/>
          <p:nvPr/>
        </p:nvSpPr>
        <p:spPr>
          <a:xfrm>
            <a:off x="5321808" y="2331720"/>
            <a:ext cx="1508760" cy="713232"/>
          </a:xfrm>
          <a:prstGeom prst="rect">
            <a:avLst/>
          </a:prstGeom>
          <a:noFill/>
        </p:spPr>
        <p:txBody>
          <a:bodyPr wrap="square">
            <a:spAutoFit/>
          </a:bodyPr>
          <a:lstStyle/>
          <a:p>
            <a:pPr algn="ctr">
              <a:defRPr sz="1050" b="0">
                <a:solidFill>
                  <a:srgbClr val="FFFFFF"/>
                </a:solidFill>
                <a:latin typeface="Aptos"/>
              </a:defRPr>
            </a:pPr>
            <a:r>
              <a:t>should-cost</a:t>
            </a:r>
            <a:br/>
            <a:r>
              <a:t>manual template</a:t>
            </a:r>
            <a:br/>
            <a:r>
              <a:t>commercial margin</a:t>
            </a:r>
          </a:p>
        </p:txBody>
      </p:sp>
      <p:sp>
        <p:nvSpPr>
          <p:cNvPr id="16" name="Rounded Rectangle 15"/>
          <p:cNvSpPr/>
          <p:nvPr/>
        </p:nvSpPr>
        <p:spPr>
          <a:xfrm>
            <a:off x="7406640" y="1828800"/>
            <a:ext cx="1828800" cy="1463040"/>
          </a:xfrm>
          <a:prstGeom prst="roundRect">
            <a:avLst/>
          </a:prstGeom>
          <a:solidFill>
            <a:srgbClr val="695296"/>
          </a:solidFill>
          <a:ln w="8890">
            <a:solidFill>
              <a:srgbClr val="695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43800" y="1993392"/>
            <a:ext cx="1554480" cy="228600"/>
          </a:xfrm>
          <a:prstGeom prst="rect">
            <a:avLst/>
          </a:prstGeom>
          <a:noFill/>
        </p:spPr>
        <p:txBody>
          <a:bodyPr wrap="square">
            <a:spAutoFit/>
          </a:bodyPr>
          <a:lstStyle/>
          <a:p>
            <a:pPr algn="ctr">
              <a:defRPr sz="1300" b="1">
                <a:solidFill>
                  <a:srgbClr val="FFFFFF"/>
                </a:solidFill>
                <a:latin typeface="Aptos"/>
              </a:defRPr>
            </a:pPr>
            <a:r>
              <a:t>AI</a:t>
            </a:r>
          </a:p>
        </p:txBody>
      </p:sp>
      <p:sp>
        <p:nvSpPr>
          <p:cNvPr id="18" name="TextBox 17"/>
          <p:cNvSpPr txBox="1"/>
          <p:nvPr/>
        </p:nvSpPr>
        <p:spPr>
          <a:xfrm>
            <a:off x="7562088" y="2331720"/>
            <a:ext cx="1508760" cy="713232"/>
          </a:xfrm>
          <a:prstGeom prst="rect">
            <a:avLst/>
          </a:prstGeom>
          <a:noFill/>
        </p:spPr>
        <p:txBody>
          <a:bodyPr wrap="square">
            <a:spAutoFit/>
          </a:bodyPr>
          <a:lstStyle/>
          <a:p>
            <a:pPr algn="ctr">
              <a:defRPr sz="1050" b="0">
                <a:solidFill>
                  <a:srgbClr val="FFFFFF"/>
                </a:solidFill>
                <a:latin typeface="Aptos"/>
              </a:defRPr>
            </a:pPr>
            <a:r>
              <a:t>fair price</a:t>
            </a:r>
            <a:br/>
            <a:r>
              <a:t>confidence</a:t>
            </a:r>
            <a:br/>
            <a:r>
              <a:t>SHAP/anomaly/cluster</a:t>
            </a:r>
          </a:p>
        </p:txBody>
      </p:sp>
      <p:sp>
        <p:nvSpPr>
          <p:cNvPr id="19" name="Rounded Rectangle 18"/>
          <p:cNvSpPr/>
          <p:nvPr/>
        </p:nvSpPr>
        <p:spPr>
          <a:xfrm>
            <a:off x="9646920" y="1828800"/>
            <a:ext cx="1828800" cy="1463040"/>
          </a:xfrm>
          <a:prstGeom prst="roundRect">
            <a:avLst/>
          </a:prstGeom>
          <a:solidFill>
            <a:srgbClr val="318451"/>
          </a:solidFill>
          <a:ln w="8890">
            <a:solidFill>
              <a:srgbClr val="3184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84080" y="1993392"/>
            <a:ext cx="1554480" cy="228600"/>
          </a:xfrm>
          <a:prstGeom prst="rect">
            <a:avLst/>
          </a:prstGeom>
          <a:noFill/>
        </p:spPr>
        <p:txBody>
          <a:bodyPr wrap="square">
            <a:spAutoFit/>
          </a:bodyPr>
          <a:lstStyle/>
          <a:p>
            <a:pPr algn="ctr">
              <a:defRPr sz="1300" b="1">
                <a:solidFill>
                  <a:srgbClr val="FFFFFF"/>
                </a:solidFill>
                <a:latin typeface="Aptos"/>
              </a:defRPr>
            </a:pPr>
            <a:r>
              <a:t>Decision</a:t>
            </a:r>
          </a:p>
        </p:txBody>
      </p:sp>
      <p:sp>
        <p:nvSpPr>
          <p:cNvPr id="21" name="TextBox 20"/>
          <p:cNvSpPr txBox="1"/>
          <p:nvPr/>
        </p:nvSpPr>
        <p:spPr>
          <a:xfrm>
            <a:off x="9802368" y="2331720"/>
            <a:ext cx="1508760" cy="713232"/>
          </a:xfrm>
          <a:prstGeom prst="rect">
            <a:avLst/>
          </a:prstGeom>
          <a:noFill/>
        </p:spPr>
        <p:txBody>
          <a:bodyPr wrap="square">
            <a:spAutoFit/>
          </a:bodyPr>
          <a:lstStyle/>
          <a:p>
            <a:pPr algn="ctr">
              <a:defRPr sz="1050" b="0">
                <a:solidFill>
                  <a:srgbClr val="FFFFFF"/>
                </a:solidFill>
                <a:latin typeface="Aptos"/>
              </a:defRPr>
            </a:pPr>
            <a:r>
              <a:t>dashboard</a:t>
            </a:r>
            <a:br/>
            <a:r>
              <a:t>Excel output</a:t>
            </a:r>
            <a:br/>
            <a:r>
              <a:t>procurement review</a:t>
            </a:r>
          </a:p>
        </p:txBody>
      </p:sp>
      <p:sp>
        <p:nvSpPr>
          <p:cNvPr id="22" name="Rounded Rectangle 21"/>
          <p:cNvSpPr/>
          <p:nvPr/>
        </p:nvSpPr>
        <p:spPr>
          <a:xfrm>
            <a:off x="685800" y="3703320"/>
            <a:ext cx="10835640" cy="2093976"/>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0392" y="3813048"/>
            <a:ext cx="10506456" cy="256032"/>
          </a:xfrm>
          <a:prstGeom prst="rect">
            <a:avLst/>
          </a:prstGeom>
          <a:noFill/>
        </p:spPr>
        <p:txBody>
          <a:bodyPr wrap="square">
            <a:spAutoFit/>
          </a:bodyPr>
          <a:lstStyle/>
          <a:p>
            <a:pPr>
              <a:defRPr sz="1200" b="1">
                <a:solidFill>
                  <a:srgbClr val="276094"/>
                </a:solidFill>
                <a:latin typeface="Aptos"/>
              </a:defRPr>
            </a:pPr>
            <a:r>
              <a:t>Layers</a:t>
            </a:r>
          </a:p>
        </p:txBody>
      </p:sp>
      <p:sp>
        <p:nvSpPr>
          <p:cNvPr id="24" name="TextBox 23"/>
          <p:cNvSpPr txBox="1"/>
          <p:nvPr/>
        </p:nvSpPr>
        <p:spPr>
          <a:xfrm>
            <a:off x="850392" y="4114800"/>
            <a:ext cx="10506456" cy="1169551"/>
          </a:xfrm>
          <a:prstGeom prst="rect">
            <a:avLst/>
          </a:prstGeom>
          <a:noFill/>
        </p:spPr>
        <p:txBody>
          <a:bodyPr wrap="square">
            <a:spAutoFit/>
          </a:bodyPr>
          <a:lstStyle/>
          <a:p>
            <a:pPr>
              <a:defRPr sz="1400" b="0">
                <a:solidFill>
                  <a:srgbClr val="232A33"/>
                </a:solidFill>
                <a:latin typeface="Aptos"/>
              </a:defRPr>
            </a:pPr>
            <a:r>
              <a:rPr dirty="0"/>
              <a:t>• Data layer: ERP cleaning, anonymization, currency normalization.</a:t>
            </a:r>
            <a:br>
              <a:rPr dirty="0"/>
            </a:br>
            <a:r>
              <a:rPr dirty="0"/>
              <a:t>• Engineering layer: material, weight, thickness, bends, holes, finish, volume.</a:t>
            </a:r>
            <a:br>
              <a:rPr dirty="0"/>
            </a:br>
            <a:r>
              <a:rPr dirty="0"/>
              <a:t>• Cost layer: material + conversion + commercial adjustments + margin.</a:t>
            </a:r>
            <a:br>
              <a:rPr dirty="0"/>
            </a:br>
            <a:r>
              <a:rPr dirty="0"/>
              <a:t>• AI layer: fair-price model, confidence, SHAP/fallback explanation, anomaly and cluster outputs.</a:t>
            </a:r>
            <a:br>
              <a:rPr dirty="0"/>
            </a:br>
            <a:r>
              <a:rPr dirty="0"/>
              <a:t>• Decision layer: </a:t>
            </a:r>
            <a:r>
              <a:rPr dirty="0" err="1"/>
              <a:t>Streamlit</a:t>
            </a:r>
            <a:r>
              <a:rPr dirty="0"/>
              <a:t> dashboard and generated cost-template outputs</a:t>
            </a:r>
            <a:r>
              <a:rPr lang="en-US" dirty="0"/>
              <a: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Code Implementation Snapshot</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13</a:t>
            </a:r>
          </a:p>
        </p:txBody>
      </p:sp>
      <p:sp>
        <p:nvSpPr>
          <p:cNvPr id="7" name="Rounded Rectangle 6"/>
          <p:cNvSpPr/>
          <p:nvPr/>
        </p:nvSpPr>
        <p:spPr>
          <a:xfrm>
            <a:off x="685800" y="1417320"/>
            <a:ext cx="10835640" cy="429768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50392" y="1910109"/>
            <a:ext cx="10506456" cy="256032"/>
          </a:xfrm>
          <a:prstGeom prst="rect">
            <a:avLst/>
          </a:prstGeom>
          <a:noFill/>
        </p:spPr>
        <p:txBody>
          <a:bodyPr wrap="square">
            <a:spAutoFit/>
          </a:bodyPr>
          <a:lstStyle/>
          <a:p>
            <a:pPr>
              <a:defRPr sz="1200" b="1">
                <a:solidFill>
                  <a:srgbClr val="276094"/>
                </a:solidFill>
                <a:latin typeface="Aptos"/>
              </a:defRPr>
            </a:pPr>
            <a:r>
              <a:t>Walkthrough order</a:t>
            </a:r>
          </a:p>
        </p:txBody>
      </p:sp>
      <p:sp>
        <p:nvSpPr>
          <p:cNvPr id="9" name="TextBox 8"/>
          <p:cNvSpPr txBox="1"/>
          <p:nvPr/>
        </p:nvSpPr>
        <p:spPr>
          <a:xfrm>
            <a:off x="850392" y="2211861"/>
            <a:ext cx="10506456" cy="2893100"/>
          </a:xfrm>
          <a:prstGeom prst="rect">
            <a:avLst/>
          </a:prstGeom>
          <a:noFill/>
        </p:spPr>
        <p:txBody>
          <a:bodyPr wrap="square">
            <a:spAutoFit/>
          </a:bodyPr>
          <a:lstStyle/>
          <a:p>
            <a:pPr>
              <a:defRPr sz="1400" b="0">
                <a:solidFill>
                  <a:srgbClr val="232A33"/>
                </a:solidFill>
                <a:latin typeface="Aptos"/>
              </a:defRPr>
            </a:pPr>
            <a:r>
              <a:rPr dirty="0"/>
              <a:t>• </a:t>
            </a:r>
            <a:r>
              <a:rPr dirty="0" err="1"/>
              <a:t>app.py</a:t>
            </a:r>
            <a:r>
              <a:rPr dirty="0"/>
              <a:t>: </a:t>
            </a:r>
            <a:r>
              <a:rPr lang="en-US" dirty="0"/>
              <a:t>D</a:t>
            </a:r>
            <a:r>
              <a:rPr dirty="0"/>
              <a:t>ashboard orchestration and review-facing tabs.</a:t>
            </a:r>
            <a:br>
              <a:rPr dirty="0"/>
            </a:br>
            <a:r>
              <a:rPr dirty="0"/>
              <a:t>• </a:t>
            </a:r>
            <a:r>
              <a:rPr dirty="0" err="1"/>
              <a:t>dtp</a:t>
            </a:r>
            <a:r>
              <a:rPr dirty="0"/>
              <a:t>/</a:t>
            </a:r>
            <a:r>
              <a:rPr dirty="0" err="1"/>
              <a:t>erp_pipeline.py</a:t>
            </a:r>
            <a:r>
              <a:rPr dirty="0"/>
              <a:t>: ERP cleaning and validation.</a:t>
            </a:r>
            <a:br>
              <a:rPr dirty="0"/>
            </a:br>
            <a:r>
              <a:rPr dirty="0"/>
              <a:t>• </a:t>
            </a:r>
            <a:r>
              <a:rPr dirty="0" err="1"/>
              <a:t>dtp</a:t>
            </a:r>
            <a:r>
              <a:rPr dirty="0"/>
              <a:t>/</a:t>
            </a:r>
            <a:r>
              <a:rPr dirty="0" err="1"/>
              <a:t>market_data.py</a:t>
            </a:r>
            <a:r>
              <a:rPr dirty="0"/>
              <a:t>: </a:t>
            </a:r>
            <a:r>
              <a:rPr lang="en-US" dirty="0"/>
              <a:t>S</a:t>
            </a:r>
            <a:r>
              <a:rPr dirty="0"/>
              <a:t>teel index and FX data/fallbacks.</a:t>
            </a:r>
            <a:br>
              <a:rPr dirty="0"/>
            </a:br>
            <a:r>
              <a:rPr dirty="0"/>
              <a:t>• </a:t>
            </a:r>
            <a:r>
              <a:rPr dirty="0" err="1"/>
              <a:t>dtp</a:t>
            </a:r>
            <a:r>
              <a:rPr dirty="0"/>
              <a:t>/</a:t>
            </a:r>
            <a:r>
              <a:rPr dirty="0" err="1"/>
              <a:t>cost_model.py</a:t>
            </a:r>
            <a:r>
              <a:rPr dirty="0"/>
              <a:t>: </a:t>
            </a:r>
            <a:r>
              <a:rPr lang="en-US" dirty="0"/>
              <a:t>Traditional </a:t>
            </a:r>
            <a:r>
              <a:rPr dirty="0"/>
              <a:t>Cost Digital Twin should-cost formula.</a:t>
            </a:r>
            <a:br>
              <a:rPr dirty="0"/>
            </a:br>
            <a:r>
              <a:rPr dirty="0"/>
              <a:t>• </a:t>
            </a:r>
            <a:r>
              <a:rPr dirty="0" err="1"/>
              <a:t>dtp</a:t>
            </a:r>
            <a:r>
              <a:rPr dirty="0"/>
              <a:t>/</a:t>
            </a:r>
            <a:r>
              <a:rPr dirty="0" err="1"/>
              <a:t>ml_models.py</a:t>
            </a:r>
            <a:r>
              <a:rPr dirty="0"/>
              <a:t>: </a:t>
            </a:r>
            <a:endParaRPr lang="en-US" dirty="0"/>
          </a:p>
          <a:p>
            <a:pPr marL="800100" lvl="1" indent="-342900">
              <a:buFont typeface="+mj-lt"/>
              <a:buAutoNum type="arabicPeriod"/>
              <a:defRPr sz="1400" b="0">
                <a:solidFill>
                  <a:srgbClr val="232A33"/>
                </a:solidFill>
                <a:latin typeface="Aptos"/>
              </a:defRPr>
            </a:pPr>
            <a:r>
              <a:rPr lang="en-US" dirty="0"/>
              <a:t>Define ML input features : Use part and market features like material grade, thickness, dimensions, weight, bends, holes, finish, supplier region, annual volume, commodity index, and FX rate.</a:t>
            </a:r>
          </a:p>
          <a:p>
            <a:pPr marL="800100" lvl="1" indent="-342900">
              <a:buFont typeface="+mj-lt"/>
              <a:buAutoNum type="arabicPeriod"/>
              <a:defRPr sz="1400" b="0">
                <a:solidFill>
                  <a:srgbClr val="232A33"/>
                </a:solidFill>
                <a:latin typeface="Aptos"/>
              </a:defRPr>
            </a:pPr>
            <a:r>
              <a:rPr lang="en-US" dirty="0"/>
              <a:t>Train pricing models : Linear Regression as baseline, Random Forest as non-linear model, </a:t>
            </a:r>
            <a:r>
              <a:rPr lang="en-US" dirty="0" err="1"/>
              <a:t>XGBoost</a:t>
            </a:r>
            <a:r>
              <a:rPr lang="en-US" dirty="0"/>
              <a:t>, or Gradient Boosting fallback.</a:t>
            </a:r>
          </a:p>
          <a:p>
            <a:pPr marL="800100" lvl="1" indent="-342900">
              <a:buFont typeface="+mj-lt"/>
              <a:buAutoNum type="arabicPeriod"/>
              <a:defRPr sz="1400" b="0">
                <a:solidFill>
                  <a:srgbClr val="232A33"/>
                </a:solidFill>
                <a:latin typeface="Aptos"/>
              </a:defRPr>
            </a:pPr>
            <a:r>
              <a:rPr lang="en-US" dirty="0"/>
              <a:t>Calculate savings and gaps. : Compare ERP price with AI fair price and calculates:</a:t>
            </a:r>
          </a:p>
          <a:p>
            <a:pPr marL="800100" lvl="1" indent="-342900">
              <a:buFont typeface="+mj-lt"/>
              <a:buAutoNum type="arabicPeriod"/>
              <a:defRPr sz="1400" b="0">
                <a:solidFill>
                  <a:srgbClr val="232A33"/>
                </a:solidFill>
                <a:latin typeface="Aptos"/>
              </a:defRPr>
            </a:pPr>
            <a:r>
              <a:rPr lang="en-US" dirty="0"/>
              <a:t>Detect anomalies : Isolation Forest to flag unusual part-price patterns.</a:t>
            </a:r>
          </a:p>
          <a:p>
            <a:pPr marL="800100" lvl="1" indent="-342900">
              <a:buFont typeface="+mj-lt"/>
              <a:buAutoNum type="arabicPeriod"/>
              <a:defRPr sz="1400" b="0">
                <a:solidFill>
                  <a:srgbClr val="232A33"/>
                </a:solidFill>
                <a:latin typeface="Aptos"/>
              </a:defRPr>
            </a:pPr>
            <a:r>
              <a:rPr lang="en-US" dirty="0"/>
              <a:t>Cluster similar parts : K-Means to group similar parts for benchmarking.</a:t>
            </a:r>
          </a:p>
          <a:p>
            <a:pPr marL="800100" lvl="1" indent="-342900">
              <a:buFont typeface="+mj-lt"/>
              <a:buAutoNum type="arabicPeriod"/>
              <a:defRPr sz="1400" b="0">
                <a:solidFill>
                  <a:srgbClr val="232A33"/>
                </a:solidFill>
                <a:latin typeface="Aptos"/>
              </a:defRPr>
            </a:pPr>
            <a:r>
              <a:rPr lang="en-US" dirty="0"/>
              <a:t>Explain predictions : SHAP if available. If SHAP is not available, it falls back to tree feature importance.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3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Results: Generated Outputs</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3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15</a:t>
            </a:r>
          </a:p>
        </p:txBody>
      </p:sp>
      <p:sp>
        <p:nvSpPr>
          <p:cNvPr id="7" name="Rounded Rectangle 6"/>
          <p:cNvSpPr/>
          <p:nvPr/>
        </p:nvSpPr>
        <p:spPr>
          <a:xfrm>
            <a:off x="68580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1971893"/>
            <a:ext cx="4928616" cy="256032"/>
          </a:xfrm>
          <a:prstGeom prst="rect">
            <a:avLst/>
          </a:prstGeom>
          <a:noFill/>
        </p:spPr>
        <p:txBody>
          <a:bodyPr wrap="square">
            <a:spAutoFit/>
          </a:bodyPr>
          <a:lstStyle/>
          <a:p>
            <a:pPr>
              <a:defRPr sz="1200" b="1">
                <a:solidFill>
                  <a:srgbClr val="276094"/>
                </a:solidFill>
                <a:latin typeface="Aptos"/>
              </a:defRPr>
            </a:pPr>
            <a:r>
              <a:t>Review 3 demo metrics</a:t>
            </a:r>
          </a:p>
        </p:txBody>
      </p:sp>
      <p:sp>
        <p:nvSpPr>
          <p:cNvPr id="9" name="TextBox 8"/>
          <p:cNvSpPr txBox="1"/>
          <p:nvPr/>
        </p:nvSpPr>
        <p:spPr>
          <a:xfrm>
            <a:off x="850392" y="2273645"/>
            <a:ext cx="4928616" cy="2031325"/>
          </a:xfrm>
          <a:prstGeom prst="rect">
            <a:avLst/>
          </a:prstGeom>
          <a:noFill/>
        </p:spPr>
        <p:txBody>
          <a:bodyPr wrap="square">
            <a:spAutoFit/>
          </a:bodyPr>
          <a:lstStyle/>
          <a:p>
            <a:pPr>
              <a:defRPr sz="1400" b="0">
                <a:solidFill>
                  <a:srgbClr val="232A33"/>
                </a:solidFill>
                <a:latin typeface="Aptos"/>
              </a:defRPr>
            </a:pPr>
            <a:r>
              <a:rPr lang="en-US" sz="1400" dirty="0"/>
              <a:t>- Parts evaluated: 120</a:t>
            </a:r>
            <a:br>
              <a:rPr lang="en-US" sz="1400" dirty="0"/>
            </a:br>
            <a:r>
              <a:rPr lang="en-US" sz="1400" dirty="0"/>
              <a:t>- Prediction-ready parts: 120/120</a:t>
            </a:r>
            <a:br>
              <a:rPr lang="en-US" sz="1400" dirty="0"/>
            </a:br>
            <a:r>
              <a:rPr lang="en-US" sz="1400" dirty="0"/>
              <a:t>- ERP transactions: 480</a:t>
            </a:r>
            <a:br>
              <a:rPr lang="en-US" sz="1400" dirty="0"/>
            </a:br>
            <a:r>
              <a:rPr lang="en-US" sz="1400" dirty="0"/>
              <a:t>- Savings-eligible parts: 49</a:t>
            </a:r>
            <a:br>
              <a:rPr lang="en-US" sz="1400" dirty="0"/>
            </a:br>
            <a:r>
              <a:rPr lang="en-US" sz="1400" dirty="0"/>
              <a:t>- Qualified savings: INR 29.57 lakh</a:t>
            </a:r>
            <a:br>
              <a:rPr lang="en-US" sz="1400" dirty="0"/>
            </a:br>
            <a:r>
              <a:rPr lang="en-US" sz="1400" dirty="0"/>
              <a:t>- Isolation Forest anomalies: 51/120</a:t>
            </a:r>
            <a:br>
              <a:rPr lang="en-US" sz="1400" dirty="0"/>
            </a:br>
            <a:r>
              <a:rPr lang="en-US" sz="1400" dirty="0"/>
              <a:t>- K-Means clusters: 3</a:t>
            </a:r>
            <a:br>
              <a:rPr lang="en-US" sz="1400" dirty="0"/>
            </a:br>
            <a:r>
              <a:rPr lang="en-US" sz="1400" dirty="0"/>
              <a:t>- XAI explanation coverage: 100.0%</a:t>
            </a:r>
          </a:p>
          <a:p>
            <a:pPr>
              <a:defRPr sz="1400" b="0">
                <a:solidFill>
                  <a:srgbClr val="232A33"/>
                </a:solidFill>
                <a:latin typeface="Aptos"/>
              </a:defRPr>
            </a:pPr>
            <a:endParaRPr dirty="0"/>
          </a:p>
        </p:txBody>
      </p:sp>
      <p:sp>
        <p:nvSpPr>
          <p:cNvPr id="10" name="Rounded Rectangle 9"/>
          <p:cNvSpPr/>
          <p:nvPr/>
        </p:nvSpPr>
        <p:spPr>
          <a:xfrm>
            <a:off x="626364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1" y="1971893"/>
            <a:ext cx="4928616" cy="256032"/>
          </a:xfrm>
          <a:prstGeom prst="rect">
            <a:avLst/>
          </a:prstGeom>
          <a:noFill/>
        </p:spPr>
        <p:txBody>
          <a:bodyPr wrap="square">
            <a:spAutoFit/>
          </a:bodyPr>
          <a:lstStyle/>
          <a:p>
            <a:pPr>
              <a:defRPr sz="1200" b="1">
                <a:solidFill>
                  <a:srgbClr val="107C79"/>
                </a:solidFill>
                <a:latin typeface="Aptos"/>
              </a:defRPr>
            </a:pPr>
            <a:r>
              <a:t>Strongest honest claim</a:t>
            </a:r>
          </a:p>
        </p:txBody>
      </p:sp>
      <p:sp>
        <p:nvSpPr>
          <p:cNvPr id="12" name="TextBox 11"/>
          <p:cNvSpPr txBox="1"/>
          <p:nvPr/>
        </p:nvSpPr>
        <p:spPr>
          <a:xfrm>
            <a:off x="6428231" y="2273645"/>
            <a:ext cx="4928616" cy="738664"/>
          </a:xfrm>
          <a:prstGeom prst="rect">
            <a:avLst/>
          </a:prstGeom>
          <a:noFill/>
        </p:spPr>
        <p:txBody>
          <a:bodyPr wrap="square">
            <a:spAutoFit/>
          </a:bodyPr>
          <a:lstStyle/>
          <a:p>
            <a:pPr>
              <a:defRPr sz="1400" b="0">
                <a:solidFill>
                  <a:srgbClr val="232A33"/>
                </a:solidFill>
                <a:latin typeface="Aptos"/>
              </a:defRPr>
            </a:pPr>
            <a:r>
              <a:rPr dirty="0"/>
              <a:t>• The Review 3 pipeline now demonstrates expanded data, drawing-spec extraction, and procurement-grade XAI: fair vs ERP price, vendor, price driver, negotiation, savings, and BATNA; real drawing/OCR validation remains the next phase</a:t>
            </a:r>
            <a:r>
              <a:rPr lang="en-US" dirty="0"/>
              <a:t>.</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Next Steps</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18</a:t>
            </a:r>
          </a:p>
        </p:txBody>
      </p:sp>
      <p:sp>
        <p:nvSpPr>
          <p:cNvPr id="7" name="Rounded Rectangle 6"/>
          <p:cNvSpPr/>
          <p:nvPr/>
        </p:nvSpPr>
        <p:spPr>
          <a:xfrm>
            <a:off x="68580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095461"/>
            <a:ext cx="4928616" cy="256032"/>
          </a:xfrm>
          <a:prstGeom prst="rect">
            <a:avLst/>
          </a:prstGeom>
          <a:noFill/>
        </p:spPr>
        <p:txBody>
          <a:bodyPr wrap="square">
            <a:spAutoFit/>
          </a:bodyPr>
          <a:lstStyle/>
          <a:p>
            <a:pPr>
              <a:defRPr sz="1200" b="1">
                <a:solidFill>
                  <a:srgbClr val="276094"/>
                </a:solidFill>
                <a:latin typeface="Aptos"/>
              </a:defRPr>
            </a:pPr>
            <a:r>
              <a:t>Validation first</a:t>
            </a:r>
          </a:p>
        </p:txBody>
      </p:sp>
      <p:sp>
        <p:nvSpPr>
          <p:cNvPr id="9" name="TextBox 8"/>
          <p:cNvSpPr txBox="1"/>
          <p:nvPr/>
        </p:nvSpPr>
        <p:spPr>
          <a:xfrm>
            <a:off x="850392" y="2397213"/>
            <a:ext cx="4928616" cy="954107"/>
          </a:xfrm>
          <a:prstGeom prst="rect">
            <a:avLst/>
          </a:prstGeom>
          <a:noFill/>
        </p:spPr>
        <p:txBody>
          <a:bodyPr wrap="square">
            <a:spAutoFit/>
          </a:bodyPr>
          <a:lstStyle/>
          <a:p>
            <a:pPr>
              <a:defRPr sz="1400" b="0">
                <a:solidFill>
                  <a:srgbClr val="232A33"/>
                </a:solidFill>
                <a:latin typeface="Aptos"/>
              </a:defRPr>
            </a:pPr>
            <a:r>
              <a:rPr dirty="0"/>
              <a:t>• Evaluate on more RFQ/technical documents.</a:t>
            </a:r>
            <a:br>
              <a:rPr dirty="0"/>
            </a:br>
            <a:r>
              <a:rPr dirty="0"/>
              <a:t>• Compare outputs against expert-filled templates.</a:t>
            </a:r>
            <a:br>
              <a:rPr dirty="0"/>
            </a:br>
            <a:r>
              <a:rPr dirty="0"/>
              <a:t>• Record field-level accuracy, completeness, and cost variance</a:t>
            </a:r>
            <a:r>
              <a:rPr lang="en-US" dirty="0"/>
              <a:t>.</a:t>
            </a:r>
            <a:endParaRPr dirty="0"/>
          </a:p>
        </p:txBody>
      </p:sp>
      <p:sp>
        <p:nvSpPr>
          <p:cNvPr id="10" name="Rounded Rectangle 9"/>
          <p:cNvSpPr/>
          <p:nvPr/>
        </p:nvSpPr>
        <p:spPr>
          <a:xfrm>
            <a:off x="626364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1" y="2095461"/>
            <a:ext cx="4928616" cy="256032"/>
          </a:xfrm>
          <a:prstGeom prst="rect">
            <a:avLst/>
          </a:prstGeom>
          <a:noFill/>
        </p:spPr>
        <p:txBody>
          <a:bodyPr wrap="square">
            <a:spAutoFit/>
          </a:bodyPr>
          <a:lstStyle/>
          <a:p>
            <a:pPr>
              <a:defRPr sz="1200" b="1">
                <a:solidFill>
                  <a:srgbClr val="107C79"/>
                </a:solidFill>
                <a:latin typeface="Aptos"/>
              </a:defRPr>
            </a:pPr>
            <a:r>
              <a:t>Implementation next</a:t>
            </a:r>
          </a:p>
        </p:txBody>
      </p:sp>
      <p:sp>
        <p:nvSpPr>
          <p:cNvPr id="12" name="TextBox 11"/>
          <p:cNvSpPr txBox="1"/>
          <p:nvPr/>
        </p:nvSpPr>
        <p:spPr>
          <a:xfrm>
            <a:off x="6428231" y="2397213"/>
            <a:ext cx="4928616" cy="523220"/>
          </a:xfrm>
          <a:prstGeom prst="rect">
            <a:avLst/>
          </a:prstGeom>
          <a:noFill/>
        </p:spPr>
        <p:txBody>
          <a:bodyPr wrap="square">
            <a:spAutoFit/>
          </a:bodyPr>
          <a:lstStyle/>
          <a:p>
            <a:pPr>
              <a:defRPr sz="1400" b="0">
                <a:solidFill>
                  <a:srgbClr val="232A33"/>
                </a:solidFill>
                <a:latin typeface="Aptos"/>
              </a:defRPr>
            </a:pPr>
            <a:r>
              <a:rPr dirty="0"/>
              <a:t>• Add OCR/CAD extraction, ERP-drawing join, confidence model, deployment polish, and scripted demo path</a:t>
            </a:r>
            <a:r>
              <a:rPr lang="en-US" dirty="0"/>
              <a:t>.</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3291</TotalTime>
  <Words>2632</Words>
  <Application>Microsoft Macintosh PowerPoint</Application>
  <PresentationFormat>Widescreen</PresentationFormat>
  <Paragraphs>282</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Chetan S Shet</cp:lastModifiedBy>
  <cp:revision>2</cp:revision>
  <dcterms:created xsi:type="dcterms:W3CDTF">2013-01-27T09:14:16Z</dcterms:created>
  <dcterms:modified xsi:type="dcterms:W3CDTF">2026-06-15T15:14:54Z</dcterms:modified>
  <cp:category/>
</cp:coreProperties>
</file>